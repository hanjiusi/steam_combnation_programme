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 1 页 · 封面 · 约 20 秒】</a:t>
            </a:r>
          </a:p>
          <a:p>
            <a:r>
              <a:t>各位老师、同学好。这次汇报两个部分的协同落地：标签画像提供解释层、多目标重排序负责决策层。我按漏斗结构讲：先立「大」——规模与统一设置；再讲「小」——三个案例把结论落到人身上；最后收「大」——回到群体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 2 页 · 立大 · 规模 · 约 40 秒】</a:t>
            </a:r>
          </a:p>
          <a:p>
            <a:r>
              <a:t>先立「大」。本次实验的完整规模：11.2 万用户的交互矩阵、6489 款候选游戏、73.1 万条真实交互；约 3.2 万款公开元数据构成的标签知识库对候选池 100% 覆盖。接下来的所有数字都来自这个群体——案例只是载体。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 3 页 · 立大 · 统一设置 · 约 40 秒】</a:t>
            </a:r>
          </a:p>
          <a:p>
            <a:r>
              <a:t>再看实验设置：40 个演示用户（带固定种子的可复现抽样）、候选池 top-300、种群 150 乘 60 代、种子 42；五个模式唯一的差别就是相似度来源。指标上两把尺子：猜得准是 RelDCG、推得广是 ILD；最优判据是膝点——准确度与多样性的乘积最大。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 4 页 · 解释层 · 标签画像 · 约 50 秒】</a:t>
            </a:r>
          </a:p>
          <a:p>
            <a:r>
              <a:t>解释层来自这里：每款游戏变成 337 维 IDF 标签向量，越稀有的标签权重越高。可行性先验证过：随机游戏对的余弦均值 0.088、95 分位 0.282——同品类趋同、异品类近零，区分度健康。推荐卡上「为什么推给它」的每个高亮标签，都能回溯到这层画像。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 5 页 · 讲小 · 案例来源 · 约 30 秒】</a:t>
            </a:r>
          </a:p>
          <a:p>
            <a:r>
              <a:t>案例不是随手挑的：A 是 40 人里多样性提升最大的一位；B 是留一测试真被命中的一位；C 的各项指标贴近群体平均。三个案例从分布里筛出，作为演示载体——结论仍以 40 人平均为准。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 6 页 · 讲小 · 案例 A · 约 35 秒】</a:t>
            </a:r>
          </a:p>
          <a:p>
            <a:r>
              <a:t>先看 A，用户 83090。左列是 ALS 基线列表，右列是膝点列表：ILD 从 0.39 提到 0.98，准确度只掉 7%。同一用户的列表从集中在少数品类，变成跨品类分布——这是多样性收益最直观的一位。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 7 页 · 讲小 · 案例 B · 约 40 秒】</a:t>
            </a:r>
          </a:p>
          <a:p>
            <a:r>
              <a:t>B，用户 60852，最硬的证据：留一测试项 The Binding of Isaac 在 ALS 列表命中，重排后在膝点列表第 3 位原位保留，ILD 同时从 0.92 提到 1.00。左边这排高亮标签就是画像与测试项重合的部分——「为什么推给它」的证据链。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 8 页 · 讲小 · 案例 C · 约 30 秒】</a:t>
            </a:r>
          </a:p>
          <a:p>
            <a:r>
              <a:t>C，用户 79603，典型用户：各项指标贴近 40 人平均，ILD 从 0.90 提到 0.98。三个人方向一致、幅度不同——个体有差异，但结论稳定。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 9 页 · 收大 · 五模式对照 · 约 40 秒】</a:t>
            </a:r>
          </a:p>
          <a:p>
            <a:r>
              <a:t>回到群体。五个模式同一设置：膝点语义多样性随 w 单调上升；纯标签端隐向量多样性回落明显；合计增益呈倒 U 形，平台区 0.5 到 0.75。注意基线行：ALS 基线本身的 TAG-ILD 只有 0.76，各档膝点都明显高于它。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 10 页 · 收大 · 群体结论 · 约 40 秒】</a:t>
            </a:r>
          </a:p>
          <a:p>
            <a:r>
              <a:t>群体平均的收尾数字：膝点相对纯 ALS 基线，多样性 +16%、准确度仅 −3%；命中差异在 3 到 4 个用户的噪声级——没有命中代价。这就是「收大」：结论永远是群体的。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 11 页 · 收大 · 权重平台区 · 约 40 秒】</a:t>
            </a:r>
          </a:p>
          <a:p>
            <a:r>
              <a:t>这张图把权重扫描画成三根线：语义增益单调升、隐向量增益单调降、合计是倒 U。最高点在 w=0.75（+0.2574），w=0.5 只差 0.0003（+0.2571）——所以平台区是 0.5 到 0.75，推荐等权的 w=0.5。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 12 页 · 小结 + 演示入口 · 约 30 秒】</a:t>
            </a:r>
          </a:p>
          <a:p>
            <a:r>
              <a:t>三句话带走：协同可行、接口干净；混合最佳、没有命中代价；两条线统一收敛在 0.5。演示站在本机一键启动、完全离线，页面数字与今天讲稿逐位一致——需要的话可以现场演示。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 13 页 · 局限与展望 · 约 20 秒】</a:t>
            </a:r>
          </a:p>
          <a:p>
            <a:r>
              <a:t>诚实说边界：40 用户、单一随机种子；ILD 是代理指标；案例收益因人有差异。下一步补多种子重复、扩到全量 11.2 万用户验证，并引入第三个目标看三维前沿。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 14 页 · 谢谢聆听 · 约 10 秒】</a:t>
            </a:r>
          </a:p>
          <a:p>
            <a:r>
              <a:t>我的汇报到这里，谢谢大家，欢迎批评指正。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 15 页 · 备份 1 · 口径与公式 · 备用页（被问才讲）】</a:t>
            </a:r>
          </a:p>
          <a:p>
            <a:r>
              <a:t>备用页：指标口径与复算校验。如果问到公式细节，这页给出 RelDCG、ILD、第二目标、膝点的完整定义与校验结果（逐位一致）。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 16 页 · 备份 2 · NSGA-II 细节 · 备用页（被问才讲）】</a:t>
            </a:r>
          </a:p>
          <a:p>
            <a:r>
              <a:t>备用页：NSGA-II 管线与 MMR 对照。如果问到「为什么不用 MMR」，这页看图：NSGA-II 一次运行得到整条前沿，MMR 只能给单点、且都在前沿下方。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 17 页 · 备份 3 · 数据与复现 · 备用页（被问才讲）】</a:t>
            </a:r>
          </a:p>
          <a:p>
            <a:r>
              <a:t>备用页：数据来源与复现方式。如果问到数据规模或如何复现，这页给出两端数据量级、快照哈希与演示站的启动方式。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188720"/>
            <a:ext cx="1188720" cy="8229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371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5B6675"/>
                </a:solidFill>
                <a:latin typeface="Microsoft YaHei"/>
                <a:ea typeface="微软雅黑"/>
                <a:cs typeface="微软雅黑"/>
              </a:rPr>
              <a:t>华中科技大学 · 大数据导论 · 课程设计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874519"/>
            <a:ext cx="108813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3800" b="1">
                <a:solidFill>
                  <a:srgbClr val="1A2233"/>
                </a:solidFill>
                <a:latin typeface="Microsoft YaHei"/>
                <a:ea typeface="微软雅黑"/>
                <a:cs typeface="微软雅黑"/>
              </a:rPr>
              <a:t>Steam 游戏推荐系统 × 用户标签画像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1F3A5F"/>
                </a:solidFill>
                <a:latin typeface="Microsoft YaHei"/>
                <a:ea typeface="微软雅黑"/>
                <a:cs typeface="微软雅黑"/>
              </a:rPr>
              <a:t>协同汇报 · 8 分钟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93192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B6675"/>
                </a:solidFill>
                <a:latin typeface="Microsoft YaHei"/>
                <a:ea typeface="微软雅黑"/>
                <a:cs typeface="微软雅黑"/>
              </a:rPr>
              <a:t>漏斗结构：先立「大」（规模与设置）→ 再讲「小」（三个案例）→ 最后收「大」（群体结论）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4370832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B6675"/>
                </a:solidFill>
                <a:latin typeface="Microsoft YaHei"/>
                <a:ea typeface="微软雅黑"/>
                <a:cs typeface="微软雅黑"/>
              </a:rPr>
              <a:t>标签画像提供解释层　·　多目标重排序负责决策层　·　结论永远来自群体平均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66928" y="4846320"/>
            <a:ext cx="11055096" cy="0"/>
          </a:xfrm>
          <a:prstGeom prst="line">
            <a:avLst/>
          </a:prstGeom>
          <a:ln w="9525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66928" y="544068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675"/>
                </a:solidFill>
                <a:latin typeface="Microsoft YaHei"/>
                <a:ea typeface="微软雅黑"/>
                <a:cs typeface="微软雅黑"/>
              </a:rPr>
              <a:t>2026 年 10 月</a:t>
            </a:r>
          </a:p>
        </p:txBody>
      </p:sp>
      <p:sp>
        <p:nvSpPr>
          <p:cNvPr id="11" name="AILabel"/>
          <p:cNvSpPr txBox="1"/>
          <p:nvPr/>
        </p:nvSpPr>
        <p:spPr>
          <a:xfrm>
            <a:off x="9611695" y="6278000"/>
            <a:ext cx="2400000" cy="400000"/>
          </a:xfrm>
          <a:prstGeom prst="rect">
            <a:avLst/>
          </a:prstGeom>
          <a:solidFill>
            <a:srgbClr val="000000">
              <a:alpha val="50000"/>
            </a:srgbClr>
          </a:solidFill>
          <a:ln w="12700">
            <a:solidFill>
              <a:srgbClr val="FFFFFF"/>
            </a:solidFill>
          </a:ln>
        </p:spPr>
        <p:txBody>
          <a:bodyPr wrap="square" rtlCol="0" anchor="ctr" lIns="91440" tIns="45720" rIns="91440" bIns="45720"/>
          <a:lstStyle/>
          <a:p>
            <a:pPr algn="ctr"/>
            <a:r>
              <a:rPr lang="zh-CN" sz="1400" b="1" dirty="0">
                <a:solidFill>
                  <a:srgbClr val="FFFFFF"/>
                </a:solidFill>
                <a:latin typeface="Arial"/>
                <a:ea typeface="SimSun"/>
              </a:rPr>
              <a:t>含 AI 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02336"/>
            <a:ext cx="109728" cy="20116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356616"/>
            <a:ext cx="9601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B6675"/>
                </a:solidFill>
                <a:latin typeface="Microsoft YaHei"/>
                <a:ea typeface="微软雅黑"/>
                <a:cs typeface="微软雅黑"/>
              </a:rPr>
              <a:t>01　立「大」· 规模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5509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A2233"/>
                </a:solidFill>
                <a:latin typeface="Microsoft YaHei"/>
                <a:ea typeface="微软雅黑"/>
                <a:cs typeface="微软雅黑"/>
              </a:rPr>
              <a:t>先立「大」：11.2 万用户 · 6489 款游戏 · 73.1 万条真实交互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5096" cy="0"/>
          </a:xfrm>
          <a:prstGeom prst="line">
            <a:avLst/>
          </a:prstGeom>
          <a:ln w="9525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66928" y="1444752"/>
            <a:ext cx="2624328" cy="182880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82496"/>
            <a:ext cx="211226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F3A5F"/>
                </a:solidFill>
                <a:latin typeface="Microsoft YaHei"/>
                <a:ea typeface="微软雅黑"/>
                <a:cs typeface="微软雅黑"/>
              </a:rPr>
              <a:t>112,707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83536"/>
            <a:ext cx="211226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A2233"/>
                </a:solidFill>
                <a:latin typeface="Microsoft YaHei"/>
                <a:ea typeface="微软雅黑"/>
                <a:cs typeface="微软雅黑"/>
              </a:rPr>
              <a:t>用户池 · 交互矩阵规模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712720"/>
            <a:ext cx="211226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675"/>
                </a:solidFill>
                <a:latin typeface="Microsoft YaHei"/>
                <a:ea typeface="微软雅黑"/>
                <a:cs typeface="微软雅黑"/>
              </a:rPr>
              <a:t>真实行为数据（矩阵密度 0.100%）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74136" y="1444752"/>
            <a:ext cx="2624328" cy="182880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30168" y="1682496"/>
            <a:ext cx="211226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F3A5F"/>
                </a:solidFill>
                <a:latin typeface="Microsoft YaHei"/>
                <a:ea typeface="微软雅黑"/>
                <a:cs typeface="微软雅黑"/>
              </a:rPr>
              <a:t>6,489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0168" y="2383536"/>
            <a:ext cx="211226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A2233"/>
                </a:solidFill>
                <a:latin typeface="Microsoft YaHei"/>
                <a:ea typeface="微软雅黑"/>
                <a:cs typeface="微软雅黑"/>
              </a:rPr>
              <a:t>候选游戏 · 全部带标签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0168" y="2712720"/>
            <a:ext cx="211226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675"/>
                </a:solidFill>
                <a:latin typeface="Microsoft YaHei"/>
                <a:ea typeface="微软雅黑"/>
                <a:cs typeface="微软雅黑"/>
              </a:rPr>
              <a:t>约 3.2 万款公开元数据 100% 名称覆盖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444752"/>
            <a:ext cx="2624328" cy="182880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37376" y="1682496"/>
            <a:ext cx="211226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F3A5F"/>
                </a:solidFill>
                <a:latin typeface="Microsoft YaHei"/>
                <a:ea typeface="微软雅黑"/>
                <a:cs typeface="微软雅黑"/>
              </a:rPr>
              <a:t>731,205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7376" y="2383536"/>
            <a:ext cx="211226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A2233"/>
                </a:solidFill>
                <a:latin typeface="Microsoft YaHei"/>
                <a:ea typeface="微软雅黑"/>
                <a:cs typeface="微软雅黑"/>
              </a:rPr>
              <a:t>条真实交互（清洗后）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7376" y="2712720"/>
            <a:ext cx="211226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675"/>
                </a:solidFill>
                <a:latin typeface="Microsoft YaHei"/>
                <a:ea typeface="微软雅黑"/>
                <a:cs typeface="微软雅黑"/>
              </a:rPr>
              <a:t>原始评论 779.3 万条 → 6 步清洗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88551" y="1444752"/>
            <a:ext cx="2624328" cy="182880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44583" y="1682496"/>
            <a:ext cx="211226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E7C7B"/>
                </a:solidFill>
                <a:latin typeface="Microsoft YaHei"/>
                <a:ea typeface="微软雅黑"/>
                <a:cs typeface="微软雅黑"/>
              </a:rPr>
              <a:t>100%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44583" y="2383536"/>
            <a:ext cx="211226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A2233"/>
                </a:solidFill>
                <a:latin typeface="Microsoft YaHei"/>
                <a:ea typeface="微软雅黑"/>
                <a:cs typeface="微软雅黑"/>
              </a:rPr>
              <a:t>标签库覆盖率（候选池）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44583" y="2712720"/>
            <a:ext cx="211226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675"/>
                </a:solidFill>
                <a:latin typeface="Microsoft YaHei"/>
                <a:ea typeface="微软雅黑"/>
                <a:cs typeface="微软雅黑"/>
              </a:rPr>
              <a:t>平均 10.8 标签 / 款 · 共 337 种标签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456432"/>
            <a:ext cx="11055096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3584448"/>
            <a:ext cx="10543032" cy="113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0">
                <a:solidFill>
                  <a:srgbClr val="1A2233"/>
                </a:solidFill>
                <a:latin typeface="Microsoft YaHei"/>
                <a:ea typeface="微软雅黑"/>
                <a:cs typeface="微软雅黑"/>
              </a:rPr>
              <a:t>· 数据底座：约 3.2 万款公开游戏元数据构成的标签知识库，对 6489 款候选 100% 覆盖；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0">
                <a:solidFill>
                  <a:srgbClr val="1A2233"/>
                </a:solidFill>
                <a:latin typeface="Microsoft YaHei"/>
                <a:ea typeface="微软雅黑"/>
                <a:cs typeface="微软雅黑"/>
              </a:rPr>
              <a:t>· 全链路真实：779.3 万条原始评论经 6 步清洗得到 73.1 万条交互对，无合成数据；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0">
                <a:solidFill>
                  <a:srgbClr val="1A2233"/>
                </a:solidFill>
                <a:latin typeface="Microsoft YaHei"/>
                <a:ea typeface="微软雅黑"/>
                <a:cs typeface="微软雅黑"/>
              </a:rPr>
              <a:t>· 一条原则：下文所有结论都来自这 40 用户平均 / 11.2 万用户池 —— 案例只是把结论落到人身上。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029200"/>
            <a:ext cx="2624328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6384" y="5175504"/>
            <a:ext cx="2240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3A5F"/>
                </a:solidFill>
                <a:latin typeface="Microsoft YaHei"/>
                <a:ea typeface="微软雅黑"/>
                <a:cs typeface="微软雅黑"/>
              </a:rPr>
              <a:t>① 立「大」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" y="5522976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675"/>
                </a:solidFill>
                <a:latin typeface="Microsoft YaHei"/>
                <a:ea typeface="微软雅黑"/>
                <a:cs typeface="微软雅黑"/>
              </a:rPr>
              <a:t>规模与统一设置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374136" y="5029200"/>
            <a:ext cx="2624328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93591" y="5175504"/>
            <a:ext cx="2240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3A5F"/>
                </a:solidFill>
                <a:latin typeface="Microsoft YaHei"/>
                <a:ea typeface="微软雅黑"/>
                <a:cs typeface="微软雅黑"/>
              </a:rPr>
              <a:t>② 解释层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93591" y="5522976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675"/>
                </a:solidFill>
                <a:latin typeface="Microsoft YaHei"/>
                <a:ea typeface="微软雅黑"/>
                <a:cs typeface="微软雅黑"/>
              </a:rPr>
              <a:t>标签 IDF 画像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81344" y="5029200"/>
            <a:ext cx="2624328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5175504"/>
            <a:ext cx="2240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3A5F"/>
                </a:solidFill>
                <a:latin typeface="Microsoft YaHei"/>
                <a:ea typeface="微软雅黑"/>
                <a:cs typeface="微软雅黑"/>
              </a:rPr>
              <a:t>③ 讲「小」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5522976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675"/>
                </a:solidFill>
                <a:latin typeface="Microsoft YaHei"/>
                <a:ea typeface="微软雅黑"/>
                <a:cs typeface="微软雅黑"/>
              </a:rPr>
              <a:t>三个案例用户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988551" y="5029200"/>
            <a:ext cx="2624328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08007" y="5175504"/>
            <a:ext cx="2240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3A5F"/>
                </a:solidFill>
                <a:latin typeface="Microsoft YaHei"/>
                <a:ea typeface="微软雅黑"/>
                <a:cs typeface="微软雅黑"/>
              </a:rPr>
              <a:t>④ 收「大」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08007" y="5522976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675"/>
                </a:solidFill>
                <a:latin typeface="Microsoft YaHei"/>
                <a:ea typeface="微软雅黑"/>
                <a:cs typeface="微软雅黑"/>
              </a:rPr>
              <a:t>群体结论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6455664"/>
            <a:ext cx="8778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675"/>
                </a:solidFill>
                <a:latin typeface="Microsoft YaHei"/>
                <a:ea typeface="微软雅黑"/>
                <a:cs typeface="微软雅黑"/>
              </a:rPr>
              <a:t>Steam 推荐系统 × 用户标签画像 · 协同汇报（8 分钟 · 大 → 小 → 大）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24744" y="645566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5B6675"/>
                </a:solidFill>
                <a:latin typeface="Microsoft YaHei"/>
                <a:ea typeface="微软雅黑"/>
                <a:cs typeface="微软雅黑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02336"/>
            <a:ext cx="109728" cy="20116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356616"/>
            <a:ext cx="9601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B6675"/>
                </a:solidFill>
                <a:latin typeface="Microsoft YaHei"/>
                <a:ea typeface="微软雅黑"/>
                <a:cs typeface="微软雅黑"/>
              </a:rPr>
              <a:t>01　立「大」· 统一设置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5509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A2233"/>
                </a:solidFill>
                <a:latin typeface="Microsoft YaHei"/>
                <a:ea typeface="微软雅黑"/>
                <a:cs typeface="微软雅黑"/>
              </a:rPr>
              <a:t>统一实验设置：唯一变量是「相似度来源」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5096" cy="0"/>
          </a:xfrm>
          <a:prstGeom prst="line">
            <a:avLst/>
          </a:prstGeom>
          <a:ln w="9525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66928" y="1444752"/>
            <a:ext cx="2624328" cy="1444752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09344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F3A5F"/>
                </a:solidFill>
                <a:latin typeface="Microsoft YaHei"/>
                <a:ea typeface="微软雅黑"/>
                <a:cs typeface="微软雅黑"/>
              </a:rPr>
              <a:t>40 演示用户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048256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A2233"/>
                </a:solidFill>
                <a:latin typeface="Microsoft YaHei"/>
                <a:ea typeface="微软雅黑"/>
                <a:cs typeface="微软雅黑"/>
              </a:rPr>
              <a:t>带固定随机种子的可复现抽样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74136" y="1444752"/>
            <a:ext cx="2624328" cy="1444752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80" y="1609344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F3A5F"/>
                </a:solidFill>
                <a:latin typeface="Microsoft YaHei"/>
                <a:ea typeface="微软雅黑"/>
                <a:cs typeface="微软雅黑"/>
              </a:rPr>
              <a:t>候选池 top-300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2048256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A2233"/>
                </a:solidFill>
                <a:latin typeface="Microsoft YaHei"/>
                <a:ea typeface="微软雅黑"/>
                <a:cs typeface="微软雅黑"/>
              </a:rPr>
              <a:t>ALS 全域打分后逐用户截取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1344" y="1444752"/>
            <a:ext cx="2624328" cy="1444752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9088" y="1609344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F3A5F"/>
                </a:solidFill>
                <a:latin typeface="Microsoft YaHei"/>
                <a:ea typeface="微软雅黑"/>
                <a:cs typeface="微软雅黑"/>
              </a:rPr>
              <a:t>种群 150 × 60 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2048256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A2233"/>
                </a:solidFill>
                <a:latin typeface="Microsoft YaHei"/>
                <a:ea typeface="微软雅黑"/>
                <a:cs typeface="微软雅黑"/>
              </a:rPr>
              <a:t>NSGA-II 演化参数（全部实验一致）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88551" y="1444752"/>
            <a:ext cx="2624328" cy="1444752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26295" y="1609344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F3A5F"/>
                </a:solidFill>
                <a:latin typeface="Microsoft YaHei"/>
                <a:ea typeface="微软雅黑"/>
                <a:cs typeface="微软雅黑"/>
              </a:rPr>
              <a:t>种子 42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26295" y="2048256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A2233"/>
                </a:solidFill>
                <a:latin typeface="Microsoft YaHei"/>
                <a:ea typeface="微软雅黑"/>
                <a:cs typeface="微软雅黑"/>
              </a:rPr>
              <a:t>全部实验统一，结果可复现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072384"/>
            <a:ext cx="11055096" cy="100584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" y="3200400"/>
            <a:ext cx="105064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唯一变量：相似度来源　w = 0.00 / 0.25 / 0.50 / 0.75 / 1.00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3639312"/>
            <a:ext cx="1050645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C9D6E4"/>
                </a:solidFill>
                <a:latin typeface="Microsoft YaHei"/>
                <a:ea typeface="微软雅黑"/>
                <a:cs typeface="微软雅黑"/>
              </a:rPr>
              <a:t>纯隐向量 → 混合（标签成分 25 / 50 / 75%）→ 纯标签 IDF；其余全部相同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224528"/>
            <a:ext cx="11055096" cy="19933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7" y="4407408"/>
            <a:ext cx="105064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F3A5F"/>
                </a:solidFill>
                <a:latin typeface="Microsoft YaHei"/>
                <a:ea typeface="微软雅黑"/>
                <a:cs typeface="微软雅黑"/>
              </a:rPr>
              <a:t>评价口径：两把尺子 + 等准确度门槛 + 膝点判据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7" y="4828032"/>
            <a:ext cx="10506456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200" b="0">
                <a:solidFill>
                  <a:srgbClr val="1A2233"/>
                </a:solidFill>
                <a:latin typeface="Microsoft YaHei"/>
                <a:ea typeface="微软雅黑"/>
                <a:cs typeface="微软雅黑"/>
              </a:rPr>
              <a:t>· 猜得准 · RelDCG@10：训练交互置 -inf、逐用户 min-max 归一后的 DCG（越大越好）；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200" b="0">
                <a:solidFill>
                  <a:srgbClr val="1A2233"/>
                </a:solidFill>
                <a:latin typeface="Microsoft YaHei"/>
                <a:ea typeface="微软雅黑"/>
                <a:cs typeface="微软雅黑"/>
              </a:rPr>
              <a:t>· 推得广 · ILD@10：列表内两两平均距离（0 = 完全相同，1 = 完全多样）；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200" b="0">
                <a:solidFill>
                  <a:srgbClr val="1A2233"/>
                </a:solidFill>
                <a:latin typeface="Microsoft YaHei"/>
                <a:ea typeface="微软雅黑"/>
                <a:cs typeface="微软雅黑"/>
              </a:rPr>
              <a:t>· 等准确度门槛：ρ = 0.90 × 该用户 ALS Top-10 的 RelDCG，门槛之上比较多样性增益；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200" b="0">
                <a:solidFill>
                  <a:srgbClr val="1A2233"/>
                </a:solidFill>
                <a:latin typeface="Microsoft YaHei"/>
                <a:ea typeface="微软雅黑"/>
                <a:cs typeface="微软雅黑"/>
              </a:rPr>
              <a:t>· 膝点（最优判据）= argmax( RelDCG × ILD )，每条前沿只取一个代表点。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6455664"/>
            <a:ext cx="8778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675"/>
                </a:solidFill>
                <a:latin typeface="Microsoft YaHei"/>
                <a:ea typeface="微软雅黑"/>
                <a:cs typeface="微软雅黑"/>
              </a:rPr>
              <a:t>Steam 推荐系统 × 用户标签画像 · 协同汇报（8 分钟 · 大 → 小 → 大）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24744" y="645566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5B6675"/>
                </a:solidFill>
                <a:latin typeface="Microsoft YaHei"/>
                <a:ea typeface="微软雅黑"/>
                <a:cs typeface="微软雅黑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02336"/>
            <a:ext cx="109728" cy="20116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356616"/>
            <a:ext cx="9601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B6675"/>
                </a:solidFill>
                <a:latin typeface="Microsoft YaHei"/>
                <a:ea typeface="微软雅黑"/>
                <a:cs typeface="微软雅黑"/>
              </a:rPr>
              <a:t>02　解释层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5509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A2233"/>
                </a:solidFill>
                <a:latin typeface="Microsoft YaHei"/>
                <a:ea typeface="微软雅黑"/>
                <a:cs typeface="微软雅黑"/>
              </a:rPr>
              <a:t>解释层：每款游戏 = 337 维 IDF 标签向量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5096" cy="0"/>
          </a:xfrm>
          <a:prstGeom prst="line">
            <a:avLst/>
          </a:prstGeom>
          <a:ln w="9525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66928" y="1444752"/>
            <a:ext cx="5532120" cy="2999232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627632"/>
            <a:ext cx="4983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F3A5F"/>
                </a:solidFill>
                <a:latin typeface="Microsoft YaHei"/>
                <a:ea typeface="微软雅黑"/>
                <a:cs typeface="微软雅黑"/>
              </a:rPr>
              <a:t>画像怎么来（STA 标签体系 × IDF 加权）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048256"/>
            <a:ext cx="4983480" cy="2221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200" b="0">
                <a:solidFill>
                  <a:srgbClr val="1A2233"/>
                </a:solidFill>
                <a:latin typeface="Microsoft YaHei"/>
                <a:ea typeface="微软雅黑"/>
                <a:cs typeface="微软雅黑"/>
              </a:rPr>
              <a:t>· 知识库：约 3.2 万款公开元数据（31,970 款带标签游戏）+ 各标签文档频率；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200" b="0">
                <a:solidFill>
                  <a:srgbClr val="1A2233"/>
                </a:solidFill>
                <a:latin typeface="Microsoft YaHei"/>
                <a:ea typeface="微软雅黑"/>
                <a:cs typeface="微软雅黑"/>
              </a:rPr>
              <a:t>· IDF 加权：越稀有的标签权重越高；知识库外的标签取中性权重 1；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200" b="0">
                <a:solidFill>
                  <a:srgbClr val="1A2233"/>
                </a:solidFill>
                <a:latin typeface="Microsoft YaHei"/>
                <a:ea typeface="微软雅黑"/>
                <a:cs typeface="微软雅黑"/>
              </a:rPr>
              <a:t>· 每款游戏 → 337 维标签向量，L2 归一化；行向量点积 = 标签余弦 ∈ [0, 1]；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200" b="0">
                <a:solidFill>
                  <a:srgbClr val="1A2233"/>
                </a:solidFill>
                <a:latin typeface="Microsoft YaHei"/>
                <a:ea typeface="微软雅黑"/>
                <a:cs typeface="微软雅黑"/>
              </a:rPr>
              <a:t>· 覆盖：候选池 6489 款 100% 命中标签库，平均 10.8 标签 / 款（共 337 种）。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73368" y="1444752"/>
            <a:ext cx="5248656" cy="118872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47688" y="1609344"/>
            <a:ext cx="47000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IDF(t) = 1 + ln( (N + 1) / (df(t) + 1) 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47688" y="2103120"/>
            <a:ext cx="47000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C9D6E4"/>
                </a:solidFill>
                <a:latin typeface="Microsoft YaHei"/>
                <a:ea typeface="微软雅黑"/>
                <a:cs typeface="微软雅黑"/>
              </a:rPr>
              <a:t>N = 31,970（背景游戏总数）；df(t) = 标签出现频次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73368" y="2761488"/>
            <a:ext cx="5248656" cy="16824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47688" y="2944368"/>
            <a:ext cx="47000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E7C7B"/>
                </a:solidFill>
                <a:latin typeface="Microsoft YaHei"/>
                <a:ea typeface="微软雅黑"/>
                <a:cs typeface="微软雅黑"/>
              </a:rPr>
              <a:t>区分度验证（随机游戏对余弦）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47688" y="3364992"/>
            <a:ext cx="4700016" cy="905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200" b="0">
                <a:solidFill>
                  <a:srgbClr val="1A2233"/>
                </a:solidFill>
                <a:latin typeface="Microsoft YaHei"/>
                <a:ea typeface="微软雅黑"/>
                <a:cs typeface="微软雅黑"/>
              </a:rPr>
              <a:t>· 均值 0.088 · 95 分位 0.282 · 最大 0.858；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200" b="0">
                <a:solidFill>
                  <a:srgbClr val="1A2233"/>
                </a:solidFill>
                <a:latin typeface="Microsoft YaHei"/>
                <a:ea typeface="微软雅黑"/>
                <a:cs typeface="微软雅黑"/>
              </a:rPr>
              <a:t>· 同品类趋同、异品类近零 —— 语义度量具备健康区分度。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526280"/>
            <a:ext cx="11055096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654296"/>
            <a:ext cx="10543032" cy="1344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>
                <a:solidFill>
                  <a:srgbClr val="1A2233"/>
                </a:solidFill>
                <a:latin typeface="Microsoft YaHei"/>
                <a:ea typeface="微软雅黑"/>
                <a:cs typeface="微软雅黑"/>
              </a:rPr>
              <a:t>· 这层最直接的价值是「可解释」：推荐列表的多样性可以直接展示为标签差异，而不是抽象向量的夹角；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>
                <a:solidFill>
                  <a:srgbClr val="1A2233"/>
                </a:solidFill>
                <a:latin typeface="Microsoft YaHei"/>
                <a:ea typeface="微软雅黑"/>
                <a:cs typeface="微软雅黑"/>
              </a:rPr>
              <a:t>· 推荐卡上每个高亮标签（与画像重合）都来自这层 337 维画像 —— 解释不是修辞，是数据；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>
                <a:solidFill>
                  <a:srgbClr val="1A2233"/>
                </a:solidFill>
                <a:latin typeface="Microsoft YaHei"/>
                <a:ea typeface="微软雅黑"/>
                <a:cs typeface="微软雅黑"/>
              </a:rPr>
              <a:t>· 这套画像同时服务两条线：既做推荐结果的解释层，也做相似度（TAG-ILD）的来源。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455664"/>
            <a:ext cx="8778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675"/>
                </a:solidFill>
                <a:latin typeface="Microsoft YaHei"/>
                <a:ea typeface="微软雅黑"/>
                <a:cs typeface="微软雅黑"/>
              </a:rPr>
              <a:t>Steam 推荐系统 × 用户标签画像 · 协同汇报（8 分钟 · 大 → 小 → 大）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24744" y="645566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5B6675"/>
                </a:solidFill>
                <a:latin typeface="Microsoft YaHei"/>
                <a:ea typeface="微软雅黑"/>
                <a:cs typeface="微软雅黑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02336"/>
            <a:ext cx="109728" cy="20116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356616"/>
            <a:ext cx="9601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B6675"/>
                </a:solidFill>
                <a:latin typeface="Microsoft YaHei"/>
                <a:ea typeface="微软雅黑"/>
                <a:cs typeface="微软雅黑"/>
              </a:rPr>
              <a:t>03　讲「小」· 案例来源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5509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A2233"/>
                </a:solidFill>
                <a:latin typeface="Microsoft YaHei"/>
                <a:ea typeface="微软雅黑"/>
                <a:cs typeface="微软雅黑"/>
              </a:rPr>
              <a:t>三个案例不是随手挑的：从 40 人分布里按指标筛出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5096" cy="0"/>
          </a:xfrm>
          <a:prstGeom prst="line">
            <a:avLst/>
          </a:prstGeom>
          <a:ln w="9525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66928" y="1444752"/>
            <a:ext cx="3538728" cy="3035808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27632"/>
            <a:ext cx="30266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icrosoft YaHei"/>
                <a:ea typeface="微软雅黑"/>
                <a:cs typeface="微软雅黑"/>
              </a:rPr>
              <a:t>案例 A · 用户 83090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975104"/>
            <a:ext cx="30266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E7C7B"/>
                </a:solidFill>
                <a:latin typeface="Microsoft YaHei"/>
                <a:ea typeface="微软雅黑"/>
                <a:cs typeface="微软雅黑"/>
              </a:rPr>
              <a:t>多样性提升最大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40864"/>
            <a:ext cx="3026664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050" b="0">
                <a:solidFill>
                  <a:srgbClr val="1A2233"/>
                </a:solidFill>
                <a:latin typeface="Microsoft YaHei"/>
                <a:ea typeface="微软雅黑"/>
                <a:cs typeface="微软雅黑"/>
              </a:rPr>
              <a:t>· 膝点相对基线的 ILD 增益最大；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050" b="0">
                <a:solidFill>
                  <a:srgbClr val="1A2233"/>
                </a:solidFill>
                <a:latin typeface="Microsoft YaHei"/>
                <a:ea typeface="微软雅黑"/>
                <a:cs typeface="微软雅黑"/>
              </a:rPr>
              <a:t>· 0.3881 → 0.9849（+0.597）；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050" b="0">
                <a:solidFill>
                  <a:srgbClr val="1A2233"/>
                </a:solidFill>
                <a:latin typeface="Microsoft YaHei"/>
                <a:ea typeface="微软雅黑"/>
                <a:cs typeface="微软雅黑"/>
              </a:rPr>
              <a:t>· 准确度只让 7.1%（2.5092 → 2.3305）。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1444752"/>
            <a:ext cx="3538728" cy="3035808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81144" y="1627632"/>
            <a:ext cx="30266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icrosoft YaHei"/>
                <a:ea typeface="微软雅黑"/>
                <a:cs typeface="微软雅黑"/>
              </a:rPr>
              <a:t>案例 B · 用户 60852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81144" y="1975104"/>
            <a:ext cx="30266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E7C7B"/>
                </a:solidFill>
                <a:latin typeface="Microsoft YaHei"/>
                <a:ea typeface="微软雅黑"/>
                <a:cs typeface="微软雅黑"/>
              </a:rPr>
              <a:t>真实命中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1144" y="2340864"/>
            <a:ext cx="3026664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050" b="0">
                <a:solidFill>
                  <a:srgbClr val="1A2233"/>
                </a:solidFill>
                <a:latin typeface="Microsoft YaHei"/>
                <a:ea typeface="微软雅黑"/>
                <a:cs typeface="微软雅黑"/>
              </a:rPr>
              <a:t>· 留一测试项 The Binding of Isaac: Rebirth；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050" b="0">
                <a:solidFill>
                  <a:srgbClr val="1A2233"/>
                </a:solidFill>
                <a:latin typeface="Microsoft YaHei"/>
                <a:ea typeface="微软雅黑"/>
                <a:cs typeface="微软雅黑"/>
              </a:rPr>
              <a:t>· 出现于膝点推荐列表第 3 位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050" b="0">
                <a:solidFill>
                  <a:srgbClr val="1A2233"/>
                </a:solidFill>
                <a:latin typeface="Microsoft YaHei"/>
                <a:ea typeface="微软雅黑"/>
                <a:cs typeface="微软雅黑"/>
              </a:rPr>
              <a:t>· ILD 0.9198 → 0.9963 的同时保住命中。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83296" y="1444752"/>
            <a:ext cx="3538728" cy="3035808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9327" y="1627632"/>
            <a:ext cx="30266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icrosoft YaHei"/>
                <a:ea typeface="微软雅黑"/>
                <a:cs typeface="微软雅黑"/>
              </a:rPr>
              <a:t>案例 C · 用户 79603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9327" y="1975104"/>
            <a:ext cx="30266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E7C7B"/>
                </a:solidFill>
                <a:latin typeface="Microsoft YaHei"/>
                <a:ea typeface="微软雅黑"/>
                <a:cs typeface="微软雅黑"/>
              </a:rPr>
              <a:t>典型用户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9327" y="2340864"/>
            <a:ext cx="3026664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050" b="0">
                <a:solidFill>
                  <a:srgbClr val="1A2233"/>
                </a:solidFill>
                <a:latin typeface="Microsoft YaHei"/>
                <a:ea typeface="微软雅黑"/>
                <a:cs typeface="微软雅黑"/>
              </a:rPr>
              <a:t>· 各项指标贴近 40 人平均；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050" b="0">
                <a:solidFill>
                  <a:srgbClr val="1A2233"/>
                </a:solidFill>
                <a:latin typeface="Microsoft YaHei"/>
                <a:ea typeface="微软雅黑"/>
                <a:cs typeface="微软雅黑"/>
              </a:rPr>
              <a:t>· ILD 0.9041 → 0.9811（+0.077）；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050" b="0">
                <a:solidFill>
                  <a:srgbClr val="1A2233"/>
                </a:solidFill>
                <a:latin typeface="Microsoft YaHei"/>
                <a:ea typeface="微软雅黑"/>
                <a:cs typeface="微软雅黑"/>
              </a:rPr>
              <a:t>· 准确度 −3.7%（3.1190 → 3.0025）。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700016"/>
            <a:ext cx="11055096" cy="14264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828031"/>
            <a:ext cx="10543032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>
                <a:solidFill>
                  <a:srgbClr val="1A2233"/>
                </a:solidFill>
                <a:latin typeface="Microsoft YaHei"/>
                <a:ea typeface="微软雅黑"/>
                <a:cs typeface="微软雅黑"/>
              </a:rPr>
              <a:t>· 筛法：按三个口径各挑一位 —— ILD 增益最大（A）、留一命中（B）、指标贴近均值（C）；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>
                <a:solidFill>
                  <a:srgbClr val="1A2233"/>
                </a:solidFill>
                <a:latin typeface="Microsoft YaHei"/>
                <a:ea typeface="微软雅黑"/>
                <a:cs typeface="微软雅黑"/>
              </a:rPr>
              <a:t>· 定位：案例是「把群体结论落到人身上」的演示载体 —— 先看三人，最后一定回到 40 人平均。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55664"/>
            <a:ext cx="8778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675"/>
                </a:solidFill>
                <a:latin typeface="Microsoft YaHei"/>
                <a:ea typeface="微软雅黑"/>
                <a:cs typeface="微软雅黑"/>
              </a:rPr>
              <a:t>Steam 推荐系统 × 用户标签画像 · 协同汇报（8 分钟 · 大 → 小 → 大）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24744" y="645566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5B6675"/>
                </a:solidFill>
                <a:latin typeface="Microsoft YaHei"/>
                <a:ea typeface="微软雅黑"/>
                <a:cs typeface="微软雅黑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02336"/>
            <a:ext cx="109728" cy="20116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356616"/>
            <a:ext cx="9601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B6675"/>
                </a:solidFill>
                <a:latin typeface="Microsoft YaHei"/>
                <a:ea typeface="微软雅黑"/>
                <a:cs typeface="微软雅黑"/>
              </a:rPr>
              <a:t>03　讲「小」· 案例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5509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A2233"/>
                </a:solidFill>
                <a:latin typeface="Microsoft YaHei"/>
                <a:ea typeface="微软雅黑"/>
                <a:cs typeface="微软雅黑"/>
              </a:rPr>
              <a:t>案例 A：多样性 0.39 → 0.98，准确度只让 7%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5096" cy="0"/>
          </a:xfrm>
          <a:prstGeom prst="line">
            <a:avLst/>
          </a:prstGeom>
          <a:ln w="9525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66928" y="1444752"/>
            <a:ext cx="3246120" cy="12435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54480"/>
            <a:ext cx="27706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5B6675"/>
                </a:solidFill>
                <a:latin typeface="Microsoft YaHei"/>
                <a:ea typeface="微软雅黑"/>
                <a:cs typeface="微软雅黑"/>
              </a:rPr>
              <a:t>ALS 基线列表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1847088"/>
            <a:ext cx="27706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2233"/>
                </a:solidFill>
                <a:latin typeface="Microsoft YaHei"/>
                <a:ea typeface="微软雅黑"/>
                <a:cs typeface="微软雅黑"/>
              </a:rPr>
              <a:t>ILD 0.3881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249424"/>
            <a:ext cx="27706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B6675"/>
                </a:solidFill>
                <a:latin typeface="Microsoft YaHei"/>
                <a:ea typeface="微软雅黑"/>
                <a:cs typeface="微软雅黑"/>
              </a:rPr>
              <a:t>RelDCG 2.5092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5968" y="1444752"/>
            <a:ext cx="3246120" cy="12435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3712" y="1554480"/>
            <a:ext cx="27706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E7C7B"/>
                </a:solidFill>
                <a:latin typeface="Microsoft YaHei"/>
                <a:ea typeface="微软雅黑"/>
                <a:cs typeface="微软雅黑"/>
              </a:rPr>
              <a:t>NSGA-II 膝点列表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1847088"/>
            <a:ext cx="27706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2233"/>
                </a:solidFill>
                <a:latin typeface="Microsoft YaHei"/>
                <a:ea typeface="微软雅黑"/>
                <a:cs typeface="微软雅黑"/>
              </a:rPr>
              <a:t>ILD 0.9849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2249424"/>
            <a:ext cx="27706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B6675"/>
                </a:solidFill>
                <a:latin typeface="Microsoft YaHei"/>
                <a:ea typeface="微软雅黑"/>
                <a:cs typeface="微软雅黑"/>
              </a:rPr>
              <a:t>RelDCG 2.3305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1444752"/>
            <a:ext cx="3557016" cy="12435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02752" y="1554480"/>
            <a:ext cx="30815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E7C7B"/>
                </a:solidFill>
                <a:latin typeface="Microsoft YaHei"/>
                <a:ea typeface="微软雅黑"/>
                <a:cs typeface="微软雅黑"/>
              </a:rPr>
              <a:t>变化（膝点 − 基线）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752" y="1847088"/>
            <a:ext cx="30815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2233"/>
                </a:solidFill>
                <a:latin typeface="Microsoft YaHei"/>
                <a:ea typeface="微软雅黑"/>
                <a:cs typeface="微软雅黑"/>
              </a:rPr>
              <a:t>多样性 +0.597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2752" y="2249424"/>
            <a:ext cx="30815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B6675"/>
                </a:solidFill>
                <a:latin typeface="Microsoft YaHei"/>
                <a:ea typeface="微软雅黑"/>
                <a:cs typeface="微软雅黑"/>
              </a:rPr>
              <a:t>准确度 −7.1%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1883664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F3A5F"/>
                </a:solidFill>
                <a:latin typeface="Microsoft YaHei"/>
                <a:ea typeface="微软雅黑"/>
                <a:cs typeface="微软雅黑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1883664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F3A5F"/>
                </a:solidFill>
                <a:latin typeface="Microsoft YaHei"/>
                <a:ea typeface="微软雅黑"/>
                <a:cs typeface="微软雅黑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2834640"/>
            <a:ext cx="5394960" cy="23591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2962656"/>
            <a:ext cx="48828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B6675"/>
                </a:solidFill>
                <a:latin typeface="Microsoft YaHei"/>
                <a:ea typeface="微软雅黑"/>
                <a:cs typeface="微软雅黑"/>
              </a:rPr>
              <a:t>ALS Top-10（基线）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3246120"/>
            <a:ext cx="4882896" cy="1810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A2233"/>
                </a:solidFill>
                <a:latin typeface="Microsoft YaHei"/>
                <a:ea typeface="微软雅黑"/>
                <a:cs typeface="微软雅黑"/>
              </a:rPr>
              <a:t>1. American Truck Simulator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A2233"/>
                </a:solidFill>
                <a:latin typeface="Microsoft YaHei"/>
                <a:ea typeface="微软雅黑"/>
                <a:cs typeface="微软雅黑"/>
              </a:rPr>
              <a:t>2. SPINTIRES™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A2233"/>
                </a:solidFill>
                <a:latin typeface="Microsoft YaHei"/>
                <a:ea typeface="微软雅黑"/>
                <a:cs typeface="微软雅黑"/>
              </a:rPr>
              <a:t>3. Train Simulator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A2233"/>
                </a:solidFill>
                <a:latin typeface="Microsoft YaHei"/>
                <a:ea typeface="微软雅黑"/>
                <a:cs typeface="微软雅黑"/>
              </a:rPr>
              <a:t>4. Farming Simulator 15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A2233"/>
                </a:solidFill>
                <a:latin typeface="Microsoft YaHei"/>
                <a:ea typeface="微软雅黑"/>
                <a:cs typeface="微软雅黑"/>
              </a:rPr>
              <a:t>5. Cities: Skylines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A2233"/>
                </a:solidFill>
                <a:latin typeface="Microsoft YaHei"/>
                <a:ea typeface="微软雅黑"/>
                <a:cs typeface="微软雅黑"/>
              </a:rPr>
              <a:t>6. Microsoft Flight Simulator X: Steam Edition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A2233"/>
                </a:solidFill>
                <a:latin typeface="Microsoft YaHei"/>
                <a:ea typeface="微软雅黑"/>
                <a:cs typeface="微软雅黑"/>
              </a:rPr>
              <a:t>7. Farming Simulator 17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A2233"/>
                </a:solidFill>
                <a:latin typeface="Microsoft YaHei"/>
                <a:ea typeface="微软雅黑"/>
                <a:cs typeface="微软雅黑"/>
              </a:rPr>
              <a:t>8. BeamNG.drive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A2233"/>
                </a:solidFill>
                <a:latin typeface="Microsoft YaHei"/>
                <a:ea typeface="微软雅黑"/>
                <a:cs typeface="微软雅黑"/>
              </a:rPr>
              <a:t>9. Tropico 4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A2233"/>
                </a:solidFill>
                <a:latin typeface="Microsoft YaHei"/>
                <a:ea typeface="微软雅黑"/>
                <a:cs typeface="微软雅黑"/>
              </a:rPr>
              <a:t>10. Farming Simulator 2013 Titanium Edition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27064" y="2834640"/>
            <a:ext cx="5394960" cy="23591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3096" y="2962656"/>
            <a:ext cx="48828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E7C7B"/>
                </a:solidFill>
                <a:latin typeface="Microsoft YaHei"/>
                <a:ea typeface="微软雅黑"/>
                <a:cs typeface="微软雅黑"/>
              </a:rPr>
              <a:t>NSGA-II 膝点 Top-10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83096" y="3246120"/>
            <a:ext cx="4882896" cy="1810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A2233"/>
                </a:solidFill>
                <a:latin typeface="Microsoft YaHei"/>
                <a:ea typeface="微软雅黑"/>
                <a:cs typeface="微软雅黑"/>
              </a:rPr>
              <a:t>1. American Truck Simulator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A2233"/>
                </a:solidFill>
                <a:latin typeface="Microsoft YaHei"/>
                <a:ea typeface="微软雅黑"/>
                <a:cs typeface="微软雅黑"/>
              </a:rPr>
              <a:t>2. SPINTIRES™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A2233"/>
                </a:solidFill>
                <a:latin typeface="Microsoft YaHei"/>
                <a:ea typeface="微软雅黑"/>
                <a:cs typeface="微软雅黑"/>
              </a:rPr>
              <a:t>3. Train Simulator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A2233"/>
                </a:solidFill>
                <a:latin typeface="Microsoft YaHei"/>
                <a:ea typeface="微软雅黑"/>
                <a:cs typeface="微软雅黑"/>
              </a:rPr>
              <a:t>4. Cities: Skylines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A2233"/>
                </a:solidFill>
                <a:latin typeface="Microsoft YaHei"/>
                <a:ea typeface="微软雅黑"/>
                <a:cs typeface="微软雅黑"/>
              </a:rPr>
              <a:t>5. Deus Ex: Human Revolution - Director's Cut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A2233"/>
                </a:solidFill>
                <a:latin typeface="Microsoft YaHei"/>
                <a:ea typeface="微软雅黑"/>
                <a:cs typeface="微软雅黑"/>
              </a:rPr>
              <a:t>6. Tales from the Borderlands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A2233"/>
                </a:solidFill>
                <a:latin typeface="Microsoft YaHei"/>
                <a:ea typeface="微软雅黑"/>
                <a:cs typeface="微软雅黑"/>
              </a:rPr>
              <a:t>7. Killing Floor 2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A2233"/>
                </a:solidFill>
                <a:latin typeface="Microsoft YaHei"/>
                <a:ea typeface="微软雅黑"/>
                <a:cs typeface="微软雅黑"/>
              </a:rPr>
              <a:t>8. Endless Legend™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A2233"/>
                </a:solidFill>
                <a:latin typeface="Microsoft YaHei"/>
                <a:ea typeface="微软雅黑"/>
                <a:cs typeface="微软雅黑"/>
              </a:rPr>
              <a:t>9. Warface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A2233"/>
                </a:solidFill>
                <a:latin typeface="Microsoft YaHei"/>
                <a:ea typeface="微软雅黑"/>
                <a:cs typeface="微软雅黑"/>
              </a:rPr>
              <a:t>10. Spiral Knights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5349240"/>
            <a:ext cx="11055096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5477255"/>
            <a:ext cx="10543032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0">
                <a:solidFill>
                  <a:srgbClr val="1A2233"/>
                </a:solidFill>
                <a:latin typeface="Microsoft YaHei"/>
                <a:ea typeface="微软雅黑"/>
                <a:cs typeface="微软雅黑"/>
              </a:rPr>
              <a:t>· 解读：同一用户，基线列表集中在少数相似品类，膝点列表跨到多个品类 —— 这是 40 人里多样性提升最大的一位。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6455664"/>
            <a:ext cx="8778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675"/>
                </a:solidFill>
                <a:latin typeface="Microsoft YaHei"/>
                <a:ea typeface="微软雅黑"/>
                <a:cs typeface="微软雅黑"/>
              </a:rPr>
              <a:t>Steam 推荐系统 × 用户标签画像 · 协同汇报（8 分钟 · 大 → 小 → 大）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24744" y="645566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5B6675"/>
                </a:solidFill>
                <a:latin typeface="Microsoft YaHei"/>
                <a:ea typeface="微软雅黑"/>
                <a:cs typeface="微软雅黑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02336"/>
            <a:ext cx="109728" cy="20116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356616"/>
            <a:ext cx="9601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B6675"/>
                </a:solidFill>
                <a:latin typeface="Microsoft YaHei"/>
                <a:ea typeface="微软雅黑"/>
                <a:cs typeface="微软雅黑"/>
              </a:rPr>
              <a:t>03　讲「小」· 案例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5509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A2233"/>
                </a:solidFill>
                <a:latin typeface="Microsoft YaHei"/>
                <a:ea typeface="微软雅黑"/>
                <a:cs typeface="微软雅黑"/>
              </a:rPr>
              <a:t>案例 B：留一测试项被真实命中，且保留在膝点列表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5096" cy="0"/>
          </a:xfrm>
          <a:prstGeom prst="line">
            <a:avLst/>
          </a:prstGeom>
          <a:ln w="9525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66928" y="1444752"/>
            <a:ext cx="5394960" cy="278892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609344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C9D6E4"/>
                </a:solidFill>
                <a:latin typeface="Microsoft YaHei"/>
                <a:ea typeface="微软雅黑"/>
                <a:cs typeface="微软雅黑"/>
              </a:rPr>
              <a:t>留一测试项（真实行为，未进训练）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938528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The Binding of Isaac: Rebirth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670048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✓ 命中：膝点推荐列表第 3 位（ALS 列表第 3 位同样命中）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3127248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C9D6E4"/>
                </a:solidFill>
                <a:latin typeface="Microsoft YaHei"/>
                <a:ea typeface="微软雅黑"/>
                <a:cs typeface="微软雅黑"/>
              </a:rPr>
              <a:t>重排把 ILD 推到 0.9963 的同一条列表上，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C9D6E4"/>
                </a:solidFill>
                <a:latin typeface="Microsoft YaHei"/>
                <a:ea typeface="微软雅黑"/>
                <a:cs typeface="微软雅黑"/>
              </a:rPr>
              <a:t>真实命中的测试项原位保留 —— 推得广不以猜得准为代价。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27064" y="1444752"/>
            <a:ext cx="5394960" cy="2788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01384" y="157276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3A5F"/>
                </a:solidFill>
                <a:latin typeface="Microsoft YaHei"/>
                <a:ea typeface="微软雅黑"/>
                <a:cs typeface="微软雅黑"/>
              </a:rPr>
              <a:t>指标对比（同一用户）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01384" y="1901952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>
                <a:solidFill>
                  <a:srgbClr val="1A2233"/>
                </a:solidFill>
                <a:latin typeface="Microsoft YaHei"/>
                <a:ea typeface="微软雅黑"/>
                <a:cs typeface="微软雅黑"/>
              </a:rPr>
              <a:t>· ILD：0.9198 → 0.9963（+0.077）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A2233"/>
                </a:solidFill>
                <a:latin typeface="Microsoft YaHei"/>
                <a:ea typeface="微软雅黑"/>
                <a:cs typeface="微软雅黑"/>
              </a:rPr>
              <a:t>· RelDCG：3.4378 → 3.3653（−2.1%）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01384" y="267004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B6675"/>
                </a:solidFill>
                <a:latin typeface="Microsoft YaHei"/>
                <a:ea typeface="微软雅黑"/>
                <a:cs typeface="微软雅黑"/>
              </a:rPr>
              <a:t>画像标签 → 测试项标签的「证据链」（重合已高亮）：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01384" y="2962656"/>
            <a:ext cx="782360" cy="292608"/>
          </a:xfrm>
          <a:prstGeom prst="round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01384" y="3003804"/>
            <a:ext cx="782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Difficult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75184" y="2962656"/>
            <a:ext cx="907450" cy="292608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75184" y="3003804"/>
            <a:ext cx="90745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A2233"/>
                </a:solidFill>
                <a:latin typeface="Microsoft YaHei"/>
                <a:ea typeface="微软雅黑"/>
                <a:cs typeface="微软雅黑"/>
              </a:rPr>
              <a:t>Perma Death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74075" y="2962656"/>
            <a:ext cx="469635" cy="292608"/>
          </a:xfrm>
          <a:prstGeom prst="round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74075" y="3003804"/>
            <a:ext cx="46963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Dark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35151" y="2962656"/>
            <a:ext cx="844905" cy="292608"/>
          </a:xfrm>
          <a:prstGeom prst="round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35151" y="3003804"/>
            <a:ext cx="84490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Rogue-like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871496" y="2962656"/>
            <a:ext cx="969995" cy="292608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71496" y="3003804"/>
            <a:ext cx="96999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A2233"/>
                </a:solidFill>
                <a:latin typeface="Microsoft YaHei"/>
                <a:ea typeface="微软雅黑"/>
                <a:cs typeface="微软雅黑"/>
              </a:rPr>
              <a:t>Dark Fantasy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01384" y="3337560"/>
            <a:ext cx="1157630" cy="292608"/>
          </a:xfrm>
          <a:prstGeom prst="round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01384" y="3378708"/>
            <a:ext cx="115763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Dungeon Crawler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50454" y="3337560"/>
            <a:ext cx="844905" cy="292608"/>
          </a:xfrm>
          <a:prstGeom prst="round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50454" y="3378708"/>
            <a:ext cx="84490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Rogue-lite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686800" y="3337560"/>
            <a:ext cx="344545" cy="292608"/>
          </a:xfrm>
          <a:prstGeom prst="round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0" y="3378708"/>
            <a:ext cx="34454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2D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6928" y="4297680"/>
            <a:ext cx="11055096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4389120"/>
            <a:ext cx="10543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E7C7B"/>
                </a:solidFill>
                <a:latin typeface="Microsoft YaHei"/>
                <a:ea typeface="微软雅黑"/>
                <a:cs typeface="微软雅黑"/>
              </a:rPr>
              <a:t>膝点推荐 Top-10（✓ = 留一命中）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4645152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1A2233"/>
                </a:solidFill>
                <a:latin typeface="Microsoft YaHei"/>
                <a:ea typeface="微软雅黑"/>
                <a:cs typeface="微软雅黑"/>
              </a:rPr>
              <a:t>1. DARK SOULS™ II: Scholar of the First Sin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1A2233"/>
                </a:solidFill>
                <a:latin typeface="Microsoft YaHei"/>
                <a:ea typeface="微软雅黑"/>
                <a:cs typeface="微软雅黑"/>
              </a:rPr>
              <a:t>2. DARK SOULS™ III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0E7C7B"/>
                </a:solidFill>
                <a:latin typeface="Microsoft YaHei"/>
                <a:ea typeface="微软雅黑"/>
                <a:cs typeface="微软雅黑"/>
              </a:rPr>
              <a:t>3. The Binding of Isaac: Rebirth  ✓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1A2233"/>
                </a:solidFill>
                <a:latin typeface="Microsoft YaHei"/>
                <a:ea typeface="微软雅黑"/>
                <a:cs typeface="微软雅黑"/>
              </a:rPr>
              <a:t>4. Awesomenauts - the 2D moba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1A2233"/>
                </a:solidFill>
                <a:latin typeface="Microsoft YaHei"/>
                <a:ea typeface="微软雅黑"/>
                <a:cs typeface="微软雅黑"/>
              </a:rPr>
              <a:t>5. AdVenture Capitalist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44768" y="4645152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1A2233"/>
                </a:solidFill>
                <a:latin typeface="Microsoft YaHei"/>
                <a:ea typeface="微软雅黑"/>
                <a:cs typeface="微软雅黑"/>
              </a:rPr>
              <a:t>6. Loadout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1A2233"/>
                </a:solidFill>
                <a:latin typeface="Microsoft YaHei"/>
                <a:ea typeface="微软雅黑"/>
                <a:cs typeface="微软雅黑"/>
              </a:rPr>
              <a:t>7. Mafia II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1A2233"/>
                </a:solidFill>
                <a:latin typeface="Microsoft YaHei"/>
                <a:ea typeface="微软雅黑"/>
                <a:cs typeface="微软雅黑"/>
              </a:rPr>
              <a:t>8. Shadowrun Returns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1A2233"/>
                </a:solidFill>
                <a:latin typeface="Microsoft YaHei"/>
                <a:ea typeface="微软雅黑"/>
                <a:cs typeface="微软雅黑"/>
              </a:rPr>
              <a:t>9. STAR WARS™ - Knights of the Old Republic™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1A2233"/>
                </a:solidFill>
                <a:latin typeface="Microsoft YaHei"/>
                <a:ea typeface="微软雅黑"/>
                <a:cs typeface="微软雅黑"/>
              </a:rPr>
              <a:t>10. Gone Home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66928" y="5504688"/>
            <a:ext cx="11055096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60" y="5632703"/>
            <a:ext cx="10543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0">
                <a:solidFill>
                  <a:srgbClr val="1A2233"/>
                </a:solidFill>
                <a:latin typeface="Microsoft YaHei"/>
                <a:ea typeface="微软雅黑"/>
                <a:cs typeface="微软雅黑"/>
              </a:rPr>
              <a:t>· 结论：真实命中被保留、ILD 逼近 1.00；标签证据链让「为什么推给它」落到数据上。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6455664"/>
            <a:ext cx="8778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675"/>
                </a:solidFill>
                <a:latin typeface="Microsoft YaHei"/>
                <a:ea typeface="微软雅黑"/>
                <a:cs typeface="微软雅黑"/>
              </a:rPr>
              <a:t>Steam 推荐系统 × 用户标签画像 · 协同汇报（8 分钟 · 大 → 小 → 大）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24744" y="645566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5B6675"/>
                </a:solidFill>
                <a:latin typeface="Microsoft YaHei"/>
                <a:ea typeface="微软雅黑"/>
                <a:cs typeface="微软雅黑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02336"/>
            <a:ext cx="109728" cy="20116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356616"/>
            <a:ext cx="9601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B6675"/>
                </a:solidFill>
                <a:latin typeface="Microsoft YaHei"/>
                <a:ea typeface="微软雅黑"/>
                <a:cs typeface="微软雅黑"/>
              </a:rPr>
              <a:t>03　讲「小」· 案例 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5509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A2233"/>
                </a:solidFill>
                <a:latin typeface="Microsoft YaHei"/>
                <a:ea typeface="微软雅黑"/>
                <a:cs typeface="微软雅黑"/>
              </a:rPr>
              <a:t>案例 C：典型用户 —— 个案方向与群体一致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5096" cy="0"/>
          </a:xfrm>
          <a:prstGeom prst="line">
            <a:avLst/>
          </a:prstGeom>
          <a:ln w="9525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66928" y="1444752"/>
            <a:ext cx="5394960" cy="2487168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591056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icrosoft YaHei"/>
                <a:ea typeface="微软雅黑"/>
                <a:cs typeface="微软雅黑"/>
              </a:rPr>
              <a:t>用户 79603 · 典型用户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938528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B6675"/>
                </a:solidFill>
                <a:latin typeface="Microsoft YaHei"/>
                <a:ea typeface="微软雅黑"/>
                <a:cs typeface="微软雅黑"/>
              </a:rPr>
              <a:t>画像标签（top 8）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2212848"/>
            <a:ext cx="1032540" cy="292608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2253996"/>
            <a:ext cx="10325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A2233"/>
                </a:solidFill>
                <a:latin typeface="Microsoft YaHei"/>
                <a:ea typeface="微软雅黑"/>
                <a:cs typeface="微软雅黑"/>
              </a:rPr>
              <a:t>Point &amp; Click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65228" y="2212848"/>
            <a:ext cx="657270" cy="292608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65228" y="2253996"/>
            <a:ext cx="65727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A2233"/>
                </a:solidFill>
                <a:latin typeface="Microsoft YaHei"/>
                <a:ea typeface="微软雅黑"/>
                <a:cs typeface="微软雅黑"/>
              </a:rPr>
              <a:t>Mystery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13939" y="2212848"/>
            <a:ext cx="1345265" cy="292608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13939" y="2253996"/>
            <a:ext cx="134526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A2233"/>
                </a:solidFill>
                <a:latin typeface="Microsoft YaHei"/>
                <a:ea typeface="微软雅黑"/>
                <a:cs typeface="微软雅黑"/>
              </a:rPr>
              <a:t>Female Protagonist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50644" y="2212848"/>
            <a:ext cx="657270" cy="292608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50644" y="2253996"/>
            <a:ext cx="65727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A2233"/>
                </a:solidFill>
                <a:latin typeface="Microsoft YaHei"/>
                <a:ea typeface="微软雅黑"/>
                <a:cs typeface="微软雅黑"/>
              </a:rPr>
              <a:t>Fantasy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99355" y="2212848"/>
            <a:ext cx="782360" cy="292608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99355" y="2253996"/>
            <a:ext cx="782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A2233"/>
                </a:solidFill>
                <a:latin typeface="Microsoft YaHei"/>
                <a:ea typeface="微软雅黑"/>
                <a:cs typeface="微软雅黑"/>
              </a:rPr>
              <a:t>Adventure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1248" y="2587752"/>
            <a:ext cx="969995" cy="292608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" y="2628900"/>
            <a:ext cx="96999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A2233"/>
                </a:solidFill>
                <a:latin typeface="Microsoft YaHei"/>
                <a:ea typeface="微软雅黑"/>
                <a:cs typeface="微软雅黑"/>
              </a:rPr>
              <a:t>Singleplayer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902683" y="2587752"/>
            <a:ext cx="844905" cy="292608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902683" y="2628900"/>
            <a:ext cx="84490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A2233"/>
                </a:solidFill>
                <a:latin typeface="Microsoft YaHei"/>
                <a:ea typeface="微软雅黑"/>
                <a:cs typeface="微软雅黑"/>
              </a:rPr>
              <a:t>Story Rich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839029" y="2587752"/>
            <a:ext cx="844905" cy="292608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39029" y="2628900"/>
            <a:ext cx="84490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A2233"/>
                </a:solidFill>
                <a:latin typeface="Microsoft YaHei"/>
                <a:ea typeface="微软雅黑"/>
                <a:cs typeface="微软雅黑"/>
              </a:rPr>
              <a:t>Dark Humor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3182112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A2233"/>
                </a:solidFill>
                <a:latin typeface="Microsoft YaHei"/>
                <a:ea typeface="微软雅黑"/>
                <a:cs typeface="微软雅黑"/>
              </a:rPr>
              <a:t>代表「大多数人」：基线指标贴近群体中位水平。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27064" y="1444752"/>
            <a:ext cx="5394960" cy="2487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01384" y="157276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3A5F"/>
                </a:solidFill>
                <a:latin typeface="Microsoft YaHei"/>
                <a:ea typeface="微软雅黑"/>
                <a:cs typeface="微软雅黑"/>
              </a:rPr>
              <a:t>指标对比（同一用户）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01384" y="192024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0">
                <a:solidFill>
                  <a:srgbClr val="1A2233"/>
                </a:solidFill>
                <a:latin typeface="Microsoft YaHei"/>
                <a:ea typeface="微软雅黑"/>
                <a:cs typeface="微软雅黑"/>
              </a:rPr>
              <a:t>· ILD：0.9041 → 0.9811（+0.077）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0">
                <a:solidFill>
                  <a:srgbClr val="1A2233"/>
                </a:solidFill>
                <a:latin typeface="Microsoft YaHei"/>
                <a:ea typeface="微软雅黑"/>
                <a:cs typeface="微软雅黑"/>
              </a:rPr>
              <a:t>· RelDCG：3.1190 → 3.0025（−3.7%）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A2233"/>
                </a:solidFill>
                <a:latin typeface="Microsoft YaHei"/>
                <a:ea typeface="微软雅黑"/>
                <a:cs typeface="微软雅黑"/>
              </a:rPr>
              <a:t>· 与 40 人平均（+16% / −3%）方向一致、幅度接近。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4133087"/>
            <a:ext cx="11055096" cy="19933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4261103"/>
            <a:ext cx="10543032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>
                <a:solidFill>
                  <a:srgbClr val="1A2233"/>
                </a:solidFill>
                <a:latin typeface="Microsoft YaHei"/>
                <a:ea typeface="微软雅黑"/>
                <a:cs typeface="微软雅黑"/>
              </a:rPr>
              <a:t>· 典型性：她的变化幅度与群体平均同向、同量级 —— 「普通用户」同样受益；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>
                <a:solidFill>
                  <a:srgbClr val="1A2233"/>
                </a:solidFill>
                <a:latin typeface="Microsoft YaHei"/>
                <a:ea typeface="微软雅黑"/>
                <a:cs typeface="微软雅黑"/>
              </a:rPr>
              <a:t>· 三人收束：A（−7.1%）幅度更大、B（−2.1%）更小 —— 个体差异真实存在，但方向一致；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>
                <a:solidFill>
                  <a:srgbClr val="1A2233"/>
                </a:solidFill>
                <a:latin typeface="Microsoft YaHei"/>
                <a:ea typeface="微软雅黑"/>
                <a:cs typeface="微软雅黑"/>
              </a:rPr>
              <a:t>· 所以结论始终以 40 人平均为准：接下来「收大」给出群体数字。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6455664"/>
            <a:ext cx="8778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675"/>
                </a:solidFill>
                <a:latin typeface="Microsoft YaHei"/>
                <a:ea typeface="微软雅黑"/>
                <a:cs typeface="微软雅黑"/>
              </a:rPr>
              <a:t>Steam 推荐系统 × 用户标签画像 · 协同汇报（8 分钟 · 大 → 小 → 大）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24744" y="645566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5B6675"/>
                </a:solidFill>
                <a:latin typeface="Microsoft YaHei"/>
                <a:ea typeface="微软雅黑"/>
                <a:cs typeface="微软雅黑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02336"/>
            <a:ext cx="109728" cy="20116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356616"/>
            <a:ext cx="9601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B6675"/>
                </a:solidFill>
                <a:latin typeface="Microsoft YaHei"/>
                <a:ea typeface="微软雅黑"/>
                <a:cs typeface="微软雅黑"/>
              </a:rPr>
              <a:t>04　收「大」· 五模式对照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5509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A2233"/>
                </a:solidFill>
                <a:latin typeface="Microsoft YaHei"/>
                <a:ea typeface="微软雅黑"/>
                <a:cs typeface="微软雅黑"/>
              </a:rPr>
              <a:t>五个模式同一设置：合计增益呈倒 U，平台区 0.5–0.75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5096" cy="0"/>
          </a:xfrm>
          <a:prstGeom prst="line">
            <a:avLst/>
          </a:prstGeom>
          <a:ln w="9525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444752"/>
          <a:ext cx="11055096" cy="37124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08376"/>
                <a:gridCol w="2103120"/>
                <a:gridCol w="2103120"/>
                <a:gridCol w="2011680"/>
                <a:gridCol w="1828800"/>
              </a:tblGrid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微软雅黑"/>
                          <a:cs typeface="微软雅黑"/>
                        </a:rPr>
                        <a:t>相似度模式（唯一变量）</a:t>
                      </a:r>
                    </a:p>
                  </a:txBody>
                  <a:tcPr marL="82296" marR="82296" marT="18288" marB="18288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微软雅黑"/>
                          <a:cs typeface="微软雅黑"/>
                        </a:rPr>
                        <a:t>膝点 TAG-ILD · 语义</a:t>
                      </a:r>
                    </a:p>
                  </a:txBody>
                  <a:tcPr marL="82296" marR="82296" marT="18288" marB="18288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微软雅黑"/>
                          <a:cs typeface="微软雅黑"/>
                        </a:rPr>
                        <a:t>膝点 ALS-ILD · 隐向量</a:t>
                      </a:r>
                    </a:p>
                  </a:txBody>
                  <a:tcPr marL="82296" marR="82296" marT="18288" marB="18288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微软雅黑"/>
                          <a:cs typeface="微软雅黑"/>
                        </a:rPr>
                        <a:t>合计增益 · ρ=0.90</a:t>
                      </a:r>
                    </a:p>
                  </a:txBody>
                  <a:tcPr marL="82296" marR="82296" marT="18288" marB="18288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微软雅黑"/>
                          <a:cs typeface="微软雅黑"/>
                        </a:rPr>
                        <a:t>前沿规模 · 点</a:t>
                      </a:r>
                    </a:p>
                  </a:txBody>
                  <a:tcPr marL="82296" marR="82296" marT="18288" marB="18288" anchor="ctr">
                    <a:solidFill>
                      <a:srgbClr val="1F3A5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2233"/>
                          </a:solidFill>
                          <a:latin typeface="Microsoft YaHei"/>
                          <a:ea typeface="微软雅黑"/>
                          <a:cs typeface="微软雅黑"/>
                        </a:rPr>
                        <a:t>纯隐向量 w=0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2233"/>
                          </a:solidFill>
                          <a:latin typeface="Microsoft YaHei"/>
                          <a:ea typeface="微软雅黑"/>
                          <a:cs typeface="微软雅黑"/>
                        </a:rPr>
                        <a:t>0.7998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2233"/>
                          </a:solidFill>
                          <a:latin typeface="Microsoft YaHei"/>
                          <a:ea typeface="微软雅黑"/>
                          <a:cs typeface="微软雅黑"/>
                        </a:rPr>
                        <a:t>0.9805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2233"/>
                          </a:solidFill>
                          <a:latin typeface="Microsoft YaHei"/>
                          <a:ea typeface="微软雅黑"/>
                          <a:cs typeface="微软雅黑"/>
                        </a:rPr>
                        <a:t>+0.2247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2233"/>
                          </a:solidFill>
                          <a:latin typeface="Microsoft YaHei"/>
                          <a:ea typeface="微软雅黑"/>
                          <a:cs typeface="微软雅黑"/>
                        </a:rPr>
                        <a:t>1476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2233"/>
                          </a:solidFill>
                          <a:latin typeface="Microsoft YaHei"/>
                          <a:ea typeface="微软雅黑"/>
                          <a:cs typeface="微软雅黑"/>
                        </a:rPr>
                        <a:t>混合 w=0.25</a:t>
                      </a:r>
                    </a:p>
                  </a:txBody>
                  <a:tcPr marL="82296" marR="82296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2233"/>
                          </a:solidFill>
                          <a:latin typeface="Microsoft YaHei"/>
                          <a:ea typeface="微软雅黑"/>
                          <a:cs typeface="微软雅黑"/>
                        </a:rPr>
                        <a:t>0.8173</a:t>
                      </a:r>
                    </a:p>
                  </a:txBody>
                  <a:tcPr marL="82296" marR="82296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2233"/>
                          </a:solidFill>
                          <a:latin typeface="Microsoft YaHei"/>
                          <a:ea typeface="微软雅黑"/>
                          <a:cs typeface="微软雅黑"/>
                        </a:rPr>
                        <a:t>0.9792</a:t>
                      </a:r>
                    </a:p>
                  </a:txBody>
                  <a:tcPr marL="82296" marR="82296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2233"/>
                          </a:solidFill>
                          <a:latin typeface="Microsoft YaHei"/>
                          <a:ea typeface="微软雅黑"/>
                          <a:cs typeface="微软雅黑"/>
                        </a:rPr>
                        <a:t>+0.2490</a:t>
                      </a:r>
                    </a:p>
                  </a:txBody>
                  <a:tcPr marL="82296" marR="82296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2233"/>
                          </a:solidFill>
                          <a:latin typeface="Microsoft YaHei"/>
                          <a:ea typeface="微软雅黑"/>
                          <a:cs typeface="微软雅黑"/>
                        </a:rPr>
                        <a:t>1738</a:t>
                      </a:r>
                    </a:p>
                  </a:txBody>
                  <a:tcPr marL="82296" marR="82296" marT="18288" marB="18288" anchor="ctr">
                    <a:solidFill>
                      <a:srgbClr val="F2F5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2233"/>
                          </a:solidFill>
                          <a:latin typeface="Microsoft YaHei"/>
                          <a:ea typeface="微软雅黑"/>
                          <a:cs typeface="微软雅黑"/>
                        </a:rPr>
                        <a:t>混合 w=0.50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2233"/>
                          </a:solidFill>
                          <a:latin typeface="Microsoft YaHei"/>
                          <a:ea typeface="微软雅黑"/>
                          <a:cs typeface="微软雅黑"/>
                        </a:rPr>
                        <a:t>0.8391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2233"/>
                          </a:solidFill>
                          <a:latin typeface="Microsoft YaHei"/>
                          <a:ea typeface="微软雅黑"/>
                          <a:cs typeface="微软雅黑"/>
                        </a:rPr>
                        <a:t>0.9702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2233"/>
                          </a:solidFill>
                          <a:latin typeface="Microsoft YaHei"/>
                          <a:ea typeface="微软雅黑"/>
                          <a:cs typeface="微软雅黑"/>
                        </a:rPr>
                        <a:t>+0.2571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2233"/>
                          </a:solidFill>
                          <a:latin typeface="Microsoft YaHei"/>
                          <a:ea typeface="微软雅黑"/>
                          <a:cs typeface="微软雅黑"/>
                        </a:rPr>
                        <a:t>1896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2233"/>
                          </a:solidFill>
                          <a:latin typeface="Microsoft YaHei"/>
                          <a:ea typeface="微软雅黑"/>
                          <a:cs typeface="微软雅黑"/>
                        </a:rPr>
                        <a:t>混合 w=0.75</a:t>
                      </a:r>
                    </a:p>
                  </a:txBody>
                  <a:tcPr marL="82296" marR="82296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2233"/>
                          </a:solidFill>
                          <a:latin typeface="Microsoft YaHei"/>
                          <a:ea typeface="微软雅黑"/>
                          <a:cs typeface="微软雅黑"/>
                        </a:rPr>
                        <a:t>0.8591</a:t>
                      </a:r>
                    </a:p>
                  </a:txBody>
                  <a:tcPr marL="82296" marR="82296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2233"/>
                          </a:solidFill>
                          <a:latin typeface="Microsoft YaHei"/>
                          <a:ea typeface="微软雅黑"/>
                          <a:cs typeface="微软雅黑"/>
                        </a:rPr>
                        <a:t>0.9520</a:t>
                      </a:r>
                    </a:p>
                  </a:txBody>
                  <a:tcPr marL="82296" marR="82296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2233"/>
                          </a:solidFill>
                          <a:latin typeface="Microsoft YaHei"/>
                          <a:ea typeface="微软雅黑"/>
                          <a:cs typeface="微软雅黑"/>
                        </a:rPr>
                        <a:t>+0.2574</a:t>
                      </a:r>
                    </a:p>
                  </a:txBody>
                  <a:tcPr marL="82296" marR="82296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2233"/>
                          </a:solidFill>
                          <a:latin typeface="Microsoft YaHei"/>
                          <a:ea typeface="微软雅黑"/>
                          <a:cs typeface="微软雅黑"/>
                        </a:rPr>
                        <a:t>1953</a:t>
                      </a:r>
                    </a:p>
                  </a:txBody>
                  <a:tcPr marL="82296" marR="82296" marT="18288" marB="18288" anchor="ctr">
                    <a:solidFill>
                      <a:srgbClr val="F2F5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2233"/>
                          </a:solidFill>
                          <a:latin typeface="Microsoft YaHei"/>
                          <a:ea typeface="微软雅黑"/>
                          <a:cs typeface="微软雅黑"/>
                        </a:rPr>
                        <a:t>纯标签 IDF w=1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2233"/>
                          </a:solidFill>
                          <a:latin typeface="Microsoft YaHei"/>
                          <a:ea typeface="微软雅黑"/>
                          <a:cs typeface="微软雅黑"/>
                        </a:rPr>
                        <a:t>0.8765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2233"/>
                          </a:solidFill>
                          <a:latin typeface="Microsoft YaHei"/>
                          <a:ea typeface="微软雅黑"/>
                          <a:cs typeface="微软雅黑"/>
                        </a:rPr>
                        <a:t>0.8670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2233"/>
                          </a:solidFill>
                          <a:latin typeface="Microsoft YaHei"/>
                          <a:ea typeface="微软雅黑"/>
                          <a:cs typeface="微软雅黑"/>
                        </a:rPr>
                        <a:t>+0.2195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2233"/>
                          </a:solidFill>
                          <a:latin typeface="Microsoft YaHei"/>
                          <a:ea typeface="微软雅黑"/>
                          <a:cs typeface="微软雅黑"/>
                        </a:rPr>
                        <a:t>2582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2233"/>
                          </a:solidFill>
                          <a:latin typeface="Microsoft YaHei"/>
                          <a:ea typeface="微软雅黑"/>
                          <a:cs typeface="微软雅黑"/>
                        </a:rPr>
                        <a:t>ALS Top-10（无重排序基线）</a:t>
                      </a:r>
                    </a:p>
                  </a:txBody>
                  <a:tcPr marL="82296" marR="82296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2233"/>
                          </a:solidFill>
                          <a:latin typeface="Microsoft YaHei"/>
                          <a:ea typeface="微软雅黑"/>
                          <a:cs typeface="微软雅黑"/>
                        </a:rPr>
                        <a:t>0.7618</a:t>
                      </a:r>
                    </a:p>
                  </a:txBody>
                  <a:tcPr marL="82296" marR="82296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2233"/>
                          </a:solidFill>
                          <a:latin typeface="Microsoft YaHei"/>
                          <a:ea typeface="微软雅黑"/>
                          <a:cs typeface="微软雅黑"/>
                        </a:rPr>
                        <a:t>0.8482</a:t>
                      </a:r>
                    </a:p>
                  </a:txBody>
                  <a:tcPr marL="82296" marR="82296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2233"/>
                          </a:solidFill>
                          <a:latin typeface="Microsoft YaHei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marL="82296" marR="82296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2233"/>
                          </a:solidFill>
                          <a:latin typeface="Microsoft YaHei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marL="82296" marR="82296" marT="18288" marB="18288" anchor="ctr">
                    <a:solidFill>
                      <a:srgbClr val="F2F5F8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66928" y="5394960"/>
            <a:ext cx="11055096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5522976"/>
            <a:ext cx="10543032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0">
                <a:solidFill>
                  <a:srgbClr val="1A2233"/>
                </a:solidFill>
                <a:latin typeface="Microsoft YaHei"/>
                <a:ea typeface="微软雅黑"/>
                <a:cs typeface="微软雅黑"/>
              </a:rPr>
              <a:t>· 膝点语义多样性随 w 单调上升（0.800 → 0.876）；纯标签端的隐向量多样性明显回落（0.98 → 0.87）；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0">
                <a:solidFill>
                  <a:srgbClr val="1A2233"/>
                </a:solidFill>
                <a:latin typeface="Microsoft YaHei"/>
                <a:ea typeface="微软雅黑"/>
                <a:cs typeface="微软雅黑"/>
              </a:rPr>
              <a:t>· 合计增益倒 U：平台区 w ∈ [0.5, 0.75]（+0.257）；基线行提示 —— ALS 基线 TAG-ILD 仅 0.7618，各档膝点都高于它。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55664"/>
            <a:ext cx="8778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675"/>
                </a:solidFill>
                <a:latin typeface="Microsoft YaHei"/>
                <a:ea typeface="微软雅黑"/>
                <a:cs typeface="微软雅黑"/>
              </a:rPr>
              <a:t>Steam 推荐系统 × 用户标签画像 · 协同汇报（8 分钟 · 大 → 小 → 大）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24744" y="645566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5B6675"/>
                </a:solidFill>
                <a:latin typeface="Microsoft YaHei"/>
                <a:ea typeface="微软雅黑"/>
                <a:cs typeface="微软雅黑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02336"/>
            <a:ext cx="109728" cy="20116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356616"/>
            <a:ext cx="9601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B6675"/>
                </a:solidFill>
                <a:latin typeface="Microsoft YaHei"/>
                <a:ea typeface="微软雅黑"/>
                <a:cs typeface="微软雅黑"/>
              </a:rPr>
              <a:t>04　收「大」· 群体结论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5509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A2233"/>
                </a:solidFill>
                <a:latin typeface="Microsoft YaHei"/>
                <a:ea typeface="微软雅黑"/>
                <a:cs typeface="微软雅黑"/>
              </a:rPr>
              <a:t>群体结论（40 用户平均）：多样性 +16%、准确度 −3%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5096" cy="0"/>
          </a:xfrm>
          <a:prstGeom prst="line">
            <a:avLst/>
          </a:prstGeom>
          <a:ln w="9525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66928" y="1444752"/>
            <a:ext cx="539496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82496"/>
            <a:ext cx="488289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0E7C7B"/>
                </a:solidFill>
                <a:latin typeface="Microsoft YaHei"/>
                <a:ea typeface="微软雅黑"/>
                <a:cs typeface="微软雅黑"/>
              </a:rPr>
              <a:t>+16%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27375"/>
            <a:ext cx="4882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A2233"/>
                </a:solidFill>
                <a:latin typeface="Microsoft YaHei"/>
                <a:ea typeface="微软雅黑"/>
                <a:cs typeface="微软雅黑"/>
              </a:rPr>
              <a:t>推得广 · ALS-ILD@10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956560"/>
            <a:ext cx="488289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675"/>
                </a:solidFill>
                <a:latin typeface="Microsoft YaHei"/>
                <a:ea typeface="微软雅黑"/>
                <a:cs typeface="微软雅黑"/>
              </a:rPr>
              <a:t>0.8482 → 0.9820（膝点 vs 纯 ALS 基线）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27064" y="1444752"/>
            <a:ext cx="539496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83096" y="1682496"/>
            <a:ext cx="488289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1F3A5F"/>
                </a:solidFill>
                <a:latin typeface="Microsoft YaHei"/>
                <a:ea typeface="微软雅黑"/>
                <a:cs typeface="微软雅黑"/>
              </a:rPr>
              <a:t>−3%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83096" y="2627375"/>
            <a:ext cx="4882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A2233"/>
                </a:solidFill>
                <a:latin typeface="Microsoft YaHei"/>
                <a:ea typeface="微软雅黑"/>
                <a:cs typeface="微软雅黑"/>
              </a:rPr>
              <a:t>猜得准 · RelDCG@10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2956560"/>
            <a:ext cx="488289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675"/>
                </a:solidFill>
                <a:latin typeface="Microsoft YaHei"/>
                <a:ea typeface="微软雅黑"/>
                <a:cs typeface="微软雅黑"/>
              </a:rPr>
              <a:t>0.3598 → 0.3486 —— 准确度的全部代价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66928" y="3675887"/>
          <a:ext cx="11055096" cy="12984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42616"/>
                <a:gridCol w="2834640"/>
                <a:gridCol w="2834640"/>
                <a:gridCol w="274320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微软雅黑"/>
                          <a:cs typeface="微软雅黑"/>
                        </a:rPr>
                        <a:t>指标（40 用户平均）</a:t>
                      </a:r>
                    </a:p>
                  </a:txBody>
                  <a:tcPr marL="82296" marR="82296" marT="18288" marB="18288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微软雅黑"/>
                          <a:cs typeface="微软雅黑"/>
                        </a:rPr>
                        <a:t>纯 ALS 基线</a:t>
                      </a:r>
                    </a:p>
                  </a:txBody>
                  <a:tcPr marL="82296" marR="82296" marT="18288" marB="18288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微软雅黑"/>
                          <a:cs typeface="微软雅黑"/>
                        </a:rPr>
                        <a:t>NSGA-II 膝点</a:t>
                      </a:r>
                    </a:p>
                  </a:txBody>
                  <a:tcPr marL="82296" marR="82296" marT="18288" marB="18288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微软雅黑"/>
                          <a:cs typeface="微软雅黑"/>
                        </a:rPr>
                        <a:t>变化</a:t>
                      </a:r>
                    </a:p>
                  </a:txBody>
                  <a:tcPr marL="82296" marR="82296" marT="18288" marB="18288" anchor="ctr"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233"/>
                          </a:solidFill>
                          <a:latin typeface="Microsoft YaHei"/>
                          <a:ea typeface="微软雅黑"/>
                          <a:cs typeface="微软雅黑"/>
                        </a:rPr>
                        <a:t>RelDCG@10 · 猜得准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233"/>
                          </a:solidFill>
                          <a:latin typeface="Microsoft YaHei"/>
                          <a:ea typeface="微软雅黑"/>
                          <a:cs typeface="微软雅黑"/>
                        </a:rPr>
                        <a:t>0.3598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233"/>
                          </a:solidFill>
                          <a:latin typeface="Microsoft YaHei"/>
                          <a:ea typeface="微软雅黑"/>
                          <a:cs typeface="微软雅黑"/>
                        </a:rPr>
                        <a:t>0.3486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233"/>
                          </a:solidFill>
                          <a:latin typeface="Microsoft YaHei"/>
                          <a:ea typeface="微软雅黑"/>
                          <a:cs typeface="微软雅黑"/>
                        </a:rPr>
                        <a:t>−3.1%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233"/>
                          </a:solidFill>
                          <a:latin typeface="Microsoft YaHei"/>
                          <a:ea typeface="微软雅黑"/>
                          <a:cs typeface="微软雅黑"/>
                        </a:rPr>
                        <a:t>ALS-ILD@10 · 推得广</a:t>
                      </a:r>
                    </a:p>
                  </a:txBody>
                  <a:tcPr marL="82296" marR="82296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233"/>
                          </a:solidFill>
                          <a:latin typeface="Microsoft YaHei"/>
                          <a:ea typeface="微软雅黑"/>
                          <a:cs typeface="微软雅黑"/>
                        </a:rPr>
                        <a:t>0.8482</a:t>
                      </a:r>
                    </a:p>
                  </a:txBody>
                  <a:tcPr marL="82296" marR="82296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233"/>
                          </a:solidFill>
                          <a:latin typeface="Microsoft YaHei"/>
                          <a:ea typeface="微软雅黑"/>
                          <a:cs typeface="微软雅黑"/>
                        </a:rPr>
                        <a:t>0.9820</a:t>
                      </a:r>
                    </a:p>
                  </a:txBody>
                  <a:tcPr marL="82296" marR="82296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233"/>
                          </a:solidFill>
                          <a:latin typeface="Microsoft YaHei"/>
                          <a:ea typeface="微软雅黑"/>
                          <a:cs typeface="微软雅黑"/>
                        </a:rPr>
                        <a:t>+15.8%</a:t>
                      </a:r>
                    </a:p>
                  </a:txBody>
                  <a:tcPr marL="82296" marR="82296" marT="18288" marB="18288" anchor="ctr">
                    <a:solidFill>
                      <a:srgbClr val="F2F5F8"/>
                    </a:solidFill>
                  </a:tcPr>
                </a:tc>
              </a:tr>
            </a:tbl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566928" y="5193792"/>
            <a:ext cx="11055096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5321807"/>
            <a:ext cx="10543032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0">
                <a:solidFill>
                  <a:srgbClr val="1A2233"/>
                </a:solidFill>
                <a:latin typeface="Microsoft YaHei"/>
                <a:ea typeface="微软雅黑"/>
                <a:cs typeface="微软雅黑"/>
              </a:rPr>
              <a:t>· 命中差异在噪声级（各设置 3 ~ 4 / 40 用户）—— 没有命中代价，改善的是多样性质量与可解释性；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0">
                <a:solidFill>
                  <a:srgbClr val="1A2233"/>
                </a:solidFill>
                <a:latin typeface="Microsoft YaHei"/>
                <a:ea typeface="微软雅黑"/>
                <a:cs typeface="微软雅黑"/>
              </a:rPr>
              <a:t>· 结论来自 40 用户平均（个体差异见案例页）：群体结论稳定，个案只是注脚。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455664"/>
            <a:ext cx="8778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675"/>
                </a:solidFill>
                <a:latin typeface="Microsoft YaHei"/>
                <a:ea typeface="微软雅黑"/>
                <a:cs typeface="微软雅黑"/>
              </a:rPr>
              <a:t>Steam 推荐系统 × 用户标签画像 · 协同汇报（8 分钟 · 大 → 小 → 大）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24744" y="645566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5B6675"/>
                </a:solidFill>
                <a:latin typeface="Microsoft YaHei"/>
                <a:ea typeface="微软雅黑"/>
                <a:cs typeface="微软雅黑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02336"/>
            <a:ext cx="109728" cy="20116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356616"/>
            <a:ext cx="9601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B6675"/>
                </a:solidFill>
                <a:latin typeface="Microsoft YaHei"/>
                <a:ea typeface="微软雅黑"/>
                <a:cs typeface="微软雅黑"/>
              </a:rPr>
              <a:t>04　收「大」· 权重平台区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5509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A2233"/>
                </a:solidFill>
                <a:latin typeface="Microsoft YaHei"/>
                <a:ea typeface="微软雅黑"/>
                <a:cs typeface="微软雅黑"/>
              </a:rPr>
              <a:t>为什么推荐 w = 0.5：平台区内等权、可解释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5096" cy="0"/>
          </a:xfrm>
          <a:prstGeom prst="line">
            <a:avLst/>
          </a:prstGeom>
          <a:ln w="9525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sim_w_swe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463040"/>
            <a:ext cx="6583680" cy="449617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6014075"/>
            <a:ext cx="6583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B6675"/>
                </a:solidFill>
                <a:latin typeface="Microsoft YaHei"/>
                <a:ea typeface="微软雅黑"/>
                <a:cs typeface="微软雅黑"/>
              </a:rPr>
              <a:t>图：相似度权重扫描 —— 等准确度 ρ=0.90 下多样性增益（40 用户平均）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0" y="1572768"/>
            <a:ext cx="4215384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100"/>
              </a:spcAft>
            </a:pPr>
            <a:r>
              <a:rPr sz="1250" b="0">
                <a:solidFill>
                  <a:srgbClr val="1A2233"/>
                </a:solidFill>
                <a:latin typeface="Microsoft YaHei"/>
                <a:ea typeface="微软雅黑"/>
                <a:cs typeface="微软雅黑"/>
              </a:rPr>
              <a:t>· 语义尺子（TAG-ILD）：增益随 w 单调上升（+0.069 → +0.143）；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100"/>
              </a:spcAft>
            </a:pPr>
            <a:r>
              <a:rPr sz="1250" b="0">
                <a:solidFill>
                  <a:srgbClr val="1A2233"/>
                </a:solidFill>
                <a:latin typeface="Microsoft YaHei"/>
                <a:ea typeface="微软雅黑"/>
                <a:cs typeface="微软雅黑"/>
              </a:rPr>
              <a:t>· 隐向量尺子（ALS-ILD）：增益单调下降（+0.156 → +0.077）；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100"/>
              </a:spcAft>
            </a:pPr>
            <a:r>
              <a:rPr sz="1250" b="0">
                <a:solidFill>
                  <a:srgbClr val="1A2233"/>
                </a:solidFill>
                <a:latin typeface="Microsoft YaHei"/>
                <a:ea typeface="微软雅黑"/>
                <a:cs typeface="微软雅黑"/>
              </a:rPr>
              <a:t>· 合计：倒 U 形，最高点 w=0.75（+0.2574），w=0.5 只差 0.0003（+0.2571）；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100"/>
              </a:spcAft>
            </a:pPr>
            <a:r>
              <a:rPr sz="1250" b="0">
                <a:solidFill>
                  <a:srgbClr val="1A2233"/>
                </a:solidFill>
                <a:latin typeface="Microsoft YaHei"/>
                <a:ea typeface="微软雅黑"/>
                <a:cs typeface="微软雅黑"/>
              </a:rPr>
              <a:t>· 跨门槛复检（ρ=0.85 / 0.95）：w=0.5 两胜一负（唯一失利仅差 0.0003）；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A2233"/>
                </a:solidFill>
                <a:latin typeface="Microsoft YaHei"/>
                <a:ea typeface="微软雅黑"/>
                <a:cs typeface="微软雅黑"/>
              </a:rPr>
              <a:t>· 两条线收敛：多样性线 w=0.5 与准确度线 α=0.5 —— 统一取 0.5。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0" y="5230368"/>
            <a:ext cx="4215384" cy="749808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6096" y="5376672"/>
            <a:ext cx="37764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推荐 w = 0.5 · 平台区 [0.5, 0.75]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455664"/>
            <a:ext cx="8778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675"/>
                </a:solidFill>
                <a:latin typeface="Microsoft YaHei"/>
                <a:ea typeface="微软雅黑"/>
                <a:cs typeface="微软雅黑"/>
              </a:rPr>
              <a:t>Steam 推荐系统 × 用户标签画像 · 协同汇报（8 分钟 · 大 → 小 → 大）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24744" y="645566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5B6675"/>
                </a:solidFill>
                <a:latin typeface="Microsoft YaHei"/>
                <a:ea typeface="微软雅黑"/>
                <a:cs typeface="微软雅黑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02336"/>
            <a:ext cx="109728" cy="20116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356616"/>
            <a:ext cx="9601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B6675"/>
                </a:solidFill>
                <a:latin typeface="Microsoft YaHei"/>
                <a:ea typeface="微软雅黑"/>
                <a:cs typeface="微软雅黑"/>
              </a:rPr>
              <a:t>05　小结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5509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A2233"/>
                </a:solidFill>
                <a:latin typeface="Microsoft YaHei"/>
                <a:ea typeface="微软雅黑"/>
                <a:cs typeface="微软雅黑"/>
              </a:rPr>
              <a:t>三句话带走 + 现场演示入口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5096" cy="0"/>
          </a:xfrm>
          <a:prstGeom prst="line">
            <a:avLst/>
          </a:prstGeom>
          <a:ln w="9525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66928" y="1444752"/>
            <a:ext cx="3538728" cy="210312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09344"/>
            <a:ext cx="30266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F3A5F"/>
                </a:solidFill>
                <a:latin typeface="Microsoft YaHei"/>
                <a:ea typeface="微软雅黑"/>
                <a:cs typeface="微软雅黑"/>
              </a:rPr>
              <a:t>协同可行 · 接口干净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975104"/>
            <a:ext cx="302666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050" b="0">
                <a:solidFill>
                  <a:srgbClr val="1A2233"/>
                </a:solidFill>
                <a:latin typeface="Microsoft YaHei"/>
                <a:ea typeface="微软雅黑"/>
                <a:cs typeface="微软雅黑"/>
              </a:rPr>
              <a:t>· 标签矩阵一次产出；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050" b="0">
                <a:solidFill>
                  <a:srgbClr val="1A2233"/>
                </a:solidFill>
                <a:latin typeface="Microsoft YaHei"/>
                <a:ea typeface="微软雅黑"/>
                <a:cs typeface="微软雅黑"/>
              </a:rPr>
              <a:t>· 推荐侧原产物零改动；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050" b="0">
                <a:solidFill>
                  <a:srgbClr val="1A2233"/>
                </a:solidFill>
                <a:latin typeface="Microsoft YaHei"/>
                <a:ea typeface="微软雅黑"/>
                <a:cs typeface="微软雅黑"/>
              </a:rPr>
              <a:t>· 演示站一键复现全部数字。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5112" y="1444752"/>
            <a:ext cx="3538728" cy="210312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81144" y="1609344"/>
            <a:ext cx="30266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F3A5F"/>
                </a:solidFill>
                <a:latin typeface="Microsoft YaHei"/>
                <a:ea typeface="微软雅黑"/>
                <a:cs typeface="微软雅黑"/>
              </a:rPr>
              <a:t>混合最佳 · 无命中代价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81144" y="1975104"/>
            <a:ext cx="302666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050" b="0">
                <a:solidFill>
                  <a:srgbClr val="1A2233"/>
                </a:solidFill>
                <a:latin typeface="Microsoft YaHei"/>
                <a:ea typeface="微软雅黑"/>
                <a:cs typeface="微软雅黑"/>
              </a:rPr>
              <a:t>· 合计增益 +0.257 为三模式最高；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050" b="0">
                <a:solidFill>
                  <a:srgbClr val="1A2233"/>
                </a:solidFill>
                <a:latin typeface="Microsoft YaHei"/>
                <a:ea typeface="微软雅黑"/>
                <a:cs typeface="微软雅黑"/>
              </a:rPr>
              <a:t>· 命中差异在 3~4 / 40 噪声级；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050" b="0">
                <a:solidFill>
                  <a:srgbClr val="1A2233"/>
                </a:solidFill>
                <a:latin typeface="Microsoft YaHei"/>
                <a:ea typeface="微软雅黑"/>
                <a:cs typeface="微软雅黑"/>
              </a:rPr>
              <a:t>· 多样性 +16%、准确度 −3%。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83296" y="1444752"/>
            <a:ext cx="3538728" cy="210312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39327" y="1609344"/>
            <a:ext cx="30266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F3A5F"/>
                </a:solidFill>
                <a:latin typeface="Microsoft YaHei"/>
                <a:ea typeface="微软雅黑"/>
                <a:cs typeface="微软雅黑"/>
              </a:rPr>
              <a:t>两条线 · 收敛到 0.5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39327" y="1975104"/>
            <a:ext cx="302666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050" b="0">
                <a:solidFill>
                  <a:srgbClr val="1A2233"/>
                </a:solidFill>
                <a:latin typeface="Microsoft YaHei"/>
                <a:ea typeface="微软雅黑"/>
                <a:cs typeface="微软雅黑"/>
              </a:rPr>
              <a:t>· 多样性线推荐 w = 0.5；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050" b="0">
                <a:solidFill>
                  <a:srgbClr val="1A2233"/>
                </a:solidFill>
                <a:latin typeface="Microsoft YaHei"/>
                <a:ea typeface="微软雅黑"/>
                <a:cs typeface="微软雅黑"/>
              </a:rPr>
              <a:t>· 准确度线推荐 α = 0.5；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050" b="0">
                <a:solidFill>
                  <a:srgbClr val="1A2233"/>
                </a:solidFill>
                <a:latin typeface="Microsoft YaHei"/>
                <a:ea typeface="微软雅黑"/>
                <a:cs typeface="微软雅黑"/>
              </a:rPr>
              <a:t>· 平台区 [0.5, 0.75] 内等权取值。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749039"/>
            <a:ext cx="11055096" cy="2212848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" y="3913632"/>
            <a:ext cx="10469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现场演示 · 本机一键启动（完全离线）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" y="4370832"/>
            <a:ext cx="10469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0">
                <a:solidFill>
                  <a:srgbClr val="C9D6E4"/>
                </a:solidFill>
                <a:latin typeface="Microsoft YaHei"/>
                <a:ea typeface="微软雅黑"/>
                <a:cs typeface="微软雅黑"/>
              </a:rPr>
              <a:t>· 启动演示.cmd → 浏览器自动打开：画像页 / 推荐页 / 报告页（127.0.0.1:4319）；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0">
                <a:solidFill>
                  <a:srgbClr val="C9D6E4"/>
                </a:solidFill>
                <a:latin typeface="Microsoft YaHei"/>
                <a:ea typeface="微软雅黑"/>
                <a:cs typeface="微软雅黑"/>
              </a:rPr>
              <a:t>· 40 用户 × 6489 游戏 × 5 模式可交互：帕累托前沿、膝点对比、标签解释、案例切换；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C9D6E4"/>
                </a:solidFill>
                <a:latin typeface="Microsoft YaHei"/>
                <a:ea typeface="微软雅黑"/>
                <a:cs typeface="微软雅黑"/>
              </a:rPr>
              <a:t>· 页面数字与本次汇报逐位一致（构建脚本三重校验，差 0.00e+00）。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455664"/>
            <a:ext cx="8778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675"/>
                </a:solidFill>
                <a:latin typeface="Microsoft YaHei"/>
                <a:ea typeface="微软雅黑"/>
                <a:cs typeface="微软雅黑"/>
              </a:rPr>
              <a:t>Steam 推荐系统 × 用户标签画像 · 协同汇报（8 分钟 · 大 → 小 → 大）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24744" y="645566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5B6675"/>
                </a:solidFill>
                <a:latin typeface="Microsoft YaHei"/>
                <a:ea typeface="微软雅黑"/>
                <a:cs typeface="微软雅黑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02336"/>
            <a:ext cx="109728" cy="20116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356616"/>
            <a:ext cx="9601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B6675"/>
                </a:solidFill>
                <a:latin typeface="Microsoft YaHei"/>
                <a:ea typeface="微软雅黑"/>
                <a:cs typeface="微软雅黑"/>
              </a:rPr>
              <a:t>06　局限与展望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5509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A2233"/>
                </a:solidFill>
                <a:latin typeface="Microsoft YaHei"/>
                <a:ea typeface="微软雅黑"/>
                <a:cs typeface="微软雅黑"/>
              </a:rPr>
              <a:t>诚实边界：这些结论的适用范围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5096" cy="0"/>
          </a:xfrm>
          <a:prstGeom prst="line">
            <a:avLst/>
          </a:prstGeom>
          <a:ln w="9525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66928" y="1444752"/>
            <a:ext cx="5385816" cy="466344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627632"/>
            <a:ext cx="48371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F3A5F"/>
                </a:solidFill>
                <a:latin typeface="Microsoft YaHei"/>
                <a:ea typeface="微软雅黑"/>
                <a:cs typeface="微软雅黑"/>
              </a:rPr>
              <a:t>局限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048256"/>
            <a:ext cx="4837176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0">
                <a:solidFill>
                  <a:srgbClr val="1A2233"/>
                </a:solidFill>
                <a:latin typeface="Microsoft YaHei"/>
                <a:ea typeface="微软雅黑"/>
                <a:cs typeface="微软雅黑"/>
              </a:rPr>
              <a:t>· 多样性线仅 40 个演示用户、单一随机种子（42），未做多种子重复与显著性检验；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0">
                <a:solidFill>
                  <a:srgbClr val="1A2233"/>
                </a:solidFill>
                <a:latin typeface="Microsoft YaHei"/>
                <a:ea typeface="微软雅黑"/>
                <a:cs typeface="微软雅黑"/>
              </a:rPr>
              <a:t>· ILD 是「列表内两两平均」的代理指标，指标改善不等于体验改善；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0">
                <a:solidFill>
                  <a:srgbClr val="1A2233"/>
                </a:solidFill>
                <a:latin typeface="Microsoft YaHei"/>
                <a:ea typeface="微软雅黑"/>
                <a:cs typeface="微软雅黑"/>
              </a:rPr>
              <a:t>· 三个案例是从分布筛出的示范，收益幅度因人而异（A：−7.1%，C：−3.7%）；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0">
                <a:solidFill>
                  <a:srgbClr val="1A2233"/>
                </a:solidFill>
                <a:latin typeface="Microsoft YaHei"/>
                <a:ea typeface="微软雅黑"/>
                <a:cs typeface="微软雅黑"/>
              </a:rPr>
              <a:t>· 标签矩阵受知识库覆盖限制：约 3.2 万款背景目录之外的标签取中性权重。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8" y="1444752"/>
            <a:ext cx="5385816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0528" y="1627632"/>
            <a:ext cx="48371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E7C7B"/>
                </a:solidFill>
                <a:latin typeface="Microsoft YaHei"/>
                <a:ea typeface="微软雅黑"/>
                <a:cs typeface="微软雅黑"/>
              </a:rPr>
              <a:t>展望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0528" y="2048256"/>
            <a:ext cx="4837176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0">
                <a:solidFill>
                  <a:srgbClr val="1A2233"/>
                </a:solidFill>
                <a:latin typeface="Microsoft YaHei"/>
                <a:ea typeface="微软雅黑"/>
                <a:cs typeface="微软雅黑"/>
              </a:rPr>
              <a:t>· 补多种子重复，把 40 用户扩到全量 11.2 万用户的离线验证；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0">
                <a:solidFill>
                  <a:srgbClr val="1A2233"/>
                </a:solidFill>
                <a:latin typeface="Microsoft YaHei"/>
                <a:ea typeface="微软雅黑"/>
                <a:cs typeface="微软雅黑"/>
              </a:rPr>
              <a:t>· 引入新颖度 / 覆盖率目标，观察三维 Pareto 前沿的结构变化；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0">
                <a:solidFill>
                  <a:srgbClr val="1A2233"/>
                </a:solidFill>
                <a:latin typeface="Microsoft YaHei"/>
                <a:ea typeface="微软雅黑"/>
                <a:cs typeface="微软雅黑"/>
              </a:rPr>
              <a:t>· 结合 STA 的流式链路（Kafka + Flink + Redis），探索在线重排序与实时权重刷新；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0">
                <a:solidFill>
                  <a:srgbClr val="1A2233"/>
                </a:solidFill>
                <a:latin typeface="Microsoft YaHei"/>
                <a:ea typeface="微软雅黑"/>
                <a:cs typeface="微软雅黑"/>
              </a:rPr>
              <a:t>· 现场演示可核验：所有页面数字与讲稿逐位一致。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55664"/>
            <a:ext cx="8778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675"/>
                </a:solidFill>
                <a:latin typeface="Microsoft YaHei"/>
                <a:ea typeface="微软雅黑"/>
                <a:cs typeface="微软雅黑"/>
              </a:rPr>
              <a:t>Steam 推荐系统 × 用户标签画像 · 协同汇报（8 分钟 · 大 → 小 → 大）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24744" y="645566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5B6675"/>
                </a:solidFill>
                <a:latin typeface="Microsoft YaHei"/>
                <a:ea typeface="微软雅黑"/>
                <a:cs typeface="微软雅黑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1695" cy="8229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011680"/>
            <a:ext cx="1105509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谢谢聆听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3200400"/>
            <a:ext cx="1105509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C9D6E4"/>
                </a:solidFill>
                <a:latin typeface="Microsoft YaHei"/>
                <a:ea typeface="微软雅黑"/>
                <a:cs typeface="微软雅黑"/>
              </a:rPr>
              <a:t>敬请批评指正 · Q &amp;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160520"/>
            <a:ext cx="110550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6E4"/>
                </a:solidFill>
                <a:latin typeface="Microsoft YaHei"/>
                <a:ea typeface="微软雅黑"/>
                <a:cs typeface="微软雅黑"/>
              </a:rPr>
              <a:t>现场演示：启动演示.cmd → 127.0.0.1:4319（完全离线，断网可用）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02336"/>
            <a:ext cx="109728" cy="20116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356616"/>
            <a:ext cx="9601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B6675"/>
                </a:solidFill>
                <a:latin typeface="Microsoft YaHei"/>
                <a:ea typeface="微软雅黑"/>
                <a:cs typeface="微软雅黑"/>
              </a:rPr>
              <a:t>备份页 · 被问才讲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5509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A2233"/>
                </a:solidFill>
                <a:latin typeface="Microsoft YaHei"/>
                <a:ea typeface="微软雅黑"/>
                <a:cs typeface="微软雅黑"/>
              </a:rPr>
              <a:t>备份 1：指标口径与复算校验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5096" cy="0"/>
          </a:xfrm>
          <a:prstGeom prst="line">
            <a:avLst/>
          </a:prstGeom>
          <a:ln w="9525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66928" y="1444752"/>
            <a:ext cx="6858000" cy="301752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645920"/>
            <a:ext cx="630936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RelDCG@10 = mean( rel / log2( rank + 1 ) 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400"/>
              </a:spcAft>
            </a:pPr>
            <a:r>
              <a:rPr sz="1050" b="0">
                <a:solidFill>
                  <a:srgbClr val="C9D6E4"/>
                </a:solidFill>
                <a:latin typeface="Microsoft YaHei"/>
                <a:ea typeface="微软雅黑"/>
                <a:cs typeface="微软雅黑"/>
              </a:rPr>
              <a:t>训练交互置 −inf、逐用户 min-max 归一；rank = 1..10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ILD@10 = 1 − 2 · triu( V·Vᵀ, 1 ).sum() / ( K·(K−1) 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400"/>
              </a:spcAft>
            </a:pPr>
            <a:r>
              <a:rPr sz="1050" b="0">
                <a:solidFill>
                  <a:srgbClr val="C9D6E4"/>
                </a:solidFill>
                <a:latin typeface="Microsoft YaHei"/>
                <a:ea typeface="微软雅黑"/>
                <a:cs typeface="微软雅黑"/>
              </a:rPr>
              <a:t>行向量 L2 归一；V 可为隐向量或标签矩阵（两把尺子）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第二目标 = ( 1 − w ) · ALS-ILD + w · TAG-ILD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C9D6E4"/>
                </a:solidFill>
                <a:latin typeface="Microsoft YaHei"/>
                <a:ea typeface="微软雅黑"/>
                <a:cs typeface="微软雅黑"/>
              </a:rPr>
              <a:t>膝点 = argmax( RelDCG × ILD )；门槛 = ρ × 用户 ALS Top-10 的 RelDCG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07808" y="1444752"/>
            <a:ext cx="4014215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82128" y="1627632"/>
            <a:ext cx="34655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E7C7B"/>
                </a:solidFill>
                <a:latin typeface="Microsoft YaHei"/>
                <a:ea typeface="微软雅黑"/>
                <a:cs typeface="微软雅黑"/>
              </a:rPr>
              <a:t>复算校验（构建脚本三重校验）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82128" y="2048256"/>
            <a:ext cx="3465575" cy="2240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0">
                <a:solidFill>
                  <a:srgbClr val="1A2233"/>
                </a:solidFill>
                <a:latin typeface="Microsoft YaHei"/>
                <a:ea typeface="微软雅黑"/>
                <a:cs typeface="微软雅黑"/>
              </a:rPr>
              <a:t>· 膝点均值与 sim_w_sweep.json 逐位一致（差 0.00e+00）；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0">
                <a:solidFill>
                  <a:srgbClr val="1A2233"/>
                </a:solidFill>
                <a:latin typeface="Microsoft YaHei"/>
                <a:ea typeface="微软雅黑"/>
                <a:cs typeface="微软雅黑"/>
              </a:rPr>
              <a:t>· 第二目标逐点复算最大偏差 5e-06；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0">
                <a:solidFill>
                  <a:srgbClr val="1A2233"/>
                </a:solidFill>
                <a:latin typeface="Microsoft YaHei"/>
                <a:ea typeface="微软雅黑"/>
                <a:cs typeface="微软雅黑"/>
              </a:rPr>
              <a:t>· ALS Top-10 指标差 ≤ 5e-05；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0">
                <a:solidFill>
                  <a:srgbClr val="1A2233"/>
                </a:solidFill>
                <a:latin typeface="Microsoft YaHei"/>
                <a:ea typeface="微软雅黑"/>
                <a:cs typeface="微软雅黑"/>
              </a:rPr>
              <a:t>· 6489 / 6489 游戏名 100% 覆盖。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4663440"/>
            <a:ext cx="11055096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791455"/>
            <a:ext cx="10543032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0">
                <a:solidFill>
                  <a:srgbClr val="1A2233"/>
                </a:solidFill>
                <a:latin typeface="Microsoft YaHei"/>
                <a:ea typeface="微软雅黑"/>
                <a:cs typeface="微软雅黑"/>
              </a:rPr>
              <a:t>· 门槛扫描：ρ 取 0.85 / 0.90 / 0.95 三档复检，主口径 ρ = 0.90；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0">
                <a:solidFill>
                  <a:srgbClr val="1A2233"/>
                </a:solidFill>
                <a:latin typeface="Microsoft YaHei"/>
                <a:ea typeface="微软雅黑"/>
                <a:cs typeface="微软雅黑"/>
              </a:rPr>
              <a:t>· 相关度只依赖 ALS 分数、跨模式天然可比 —— 「换尺子自证」会被另一把尺子直接暴露；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0">
                <a:solidFill>
                  <a:srgbClr val="1A2233"/>
                </a:solidFill>
                <a:latin typeface="Microsoft YaHei"/>
                <a:ea typeface="微软雅黑"/>
                <a:cs typeface="微软雅黑"/>
              </a:rPr>
              <a:t>· 数据哈希：web-data/meta.json 的 provenance 记录 15 个源文件指纹，可完整重跑。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55664"/>
            <a:ext cx="8778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675"/>
                </a:solidFill>
                <a:latin typeface="Microsoft YaHei"/>
                <a:ea typeface="微软雅黑"/>
                <a:cs typeface="微软雅黑"/>
              </a:rPr>
              <a:t>Steam 推荐系统 × 用户标签画像 · 协同汇报（8 分钟 · 大 → 小 → 大）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24744" y="645566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5B6675"/>
                </a:solidFill>
                <a:latin typeface="Microsoft YaHei"/>
                <a:ea typeface="微软雅黑"/>
                <a:cs typeface="微软雅黑"/>
              </a:rPr>
              <a:t>B1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02336"/>
            <a:ext cx="109728" cy="20116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356616"/>
            <a:ext cx="9601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B6675"/>
                </a:solidFill>
                <a:latin typeface="Microsoft YaHei"/>
                <a:ea typeface="微软雅黑"/>
                <a:cs typeface="微软雅黑"/>
              </a:rPr>
              <a:t>备份页 · 被问才讲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5509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A2233"/>
                </a:solidFill>
                <a:latin typeface="Microsoft YaHei"/>
                <a:ea typeface="微软雅黑"/>
                <a:cs typeface="微软雅黑"/>
              </a:rPr>
              <a:t>备份 2：NSGA-II 管线与 MMR 对照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5096" cy="0"/>
          </a:xfrm>
          <a:prstGeom prst="line">
            <a:avLst/>
          </a:prstGeom>
          <a:ln w="9525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pareto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600200"/>
            <a:ext cx="5852160" cy="4389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6044184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B6675"/>
                </a:solidFill>
                <a:latin typeface="Microsoft YaHei"/>
                <a:ea typeface="微软雅黑"/>
                <a:cs typeface="微软雅黑"/>
              </a:rPr>
              <a:t>图：NSGA-II vs MMR vs ALS（同一批 40 用户平均前沿）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1572768"/>
            <a:ext cx="4946904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100"/>
              </a:spcAft>
            </a:pPr>
            <a:r>
              <a:rPr sz="1250" b="0">
                <a:solidFill>
                  <a:srgbClr val="1A2233"/>
                </a:solidFill>
                <a:latin typeface="Microsoft YaHei"/>
                <a:ea typeface="微软雅黑"/>
                <a:cs typeface="微软雅黑"/>
              </a:rPr>
              <a:t>· 管线：ALS 128 维隐向量全域打分 → 每用户 top-300 候选池；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100"/>
              </a:spcAft>
            </a:pPr>
            <a:r>
              <a:rPr sz="1250" b="0">
                <a:solidFill>
                  <a:srgbClr val="1A2233"/>
                </a:solidFill>
                <a:latin typeface="Microsoft YaHei"/>
                <a:ea typeface="微软雅黑"/>
                <a:cs typeface="微软雅黑"/>
              </a:rPr>
              <a:t>· 演化：种群 150、60 代；非支配排序 + 拥挤度保持多样性；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100"/>
              </a:spcAft>
            </a:pPr>
            <a:r>
              <a:rPr sz="1250" b="0">
                <a:solidFill>
                  <a:srgbClr val="1A2233"/>
                </a:solidFill>
                <a:latin typeface="Microsoft YaHei"/>
                <a:ea typeface="微软雅黑"/>
                <a:cs typeface="微软雅黑"/>
              </a:rPr>
              <a:t>· 产出：一次运行得到整条 Pareto 前沿（1476 ~ 2582 点），膝点自动选取；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100"/>
              </a:spcAft>
            </a:pPr>
            <a:r>
              <a:rPr sz="1250" b="0">
                <a:solidFill>
                  <a:srgbClr val="1A2233"/>
                </a:solidFill>
                <a:latin typeface="Microsoft YaHei"/>
                <a:ea typeface="微软雅黑"/>
                <a:cs typeface="微软雅黑"/>
              </a:rPr>
              <a:t>· 对照：MMR 单目标加权（λ=0.3 / 0.5 / 0.7）只能得到单点，且都落在 NSGA-II 前沿下方；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A2233"/>
                </a:solidFill>
                <a:latin typeface="Microsoft YaHei"/>
                <a:ea typeface="微软雅黑"/>
                <a:cs typeface="微软雅黑"/>
              </a:rPr>
              <a:t>· 结论依据：多目标一次求解 —— 无需为每个权衡重新调参重跑。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55664"/>
            <a:ext cx="8778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675"/>
                </a:solidFill>
                <a:latin typeface="Microsoft YaHei"/>
                <a:ea typeface="微软雅黑"/>
                <a:cs typeface="微软雅黑"/>
              </a:rPr>
              <a:t>Steam 推荐系统 × 用户标签画像 · 协同汇报（8 分钟 · 大 → 小 → 大）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24744" y="645566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5B6675"/>
                </a:solidFill>
                <a:latin typeface="Microsoft YaHei"/>
                <a:ea typeface="微软雅黑"/>
                <a:cs typeface="微软雅黑"/>
              </a:rPr>
              <a:t>B2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02336"/>
            <a:ext cx="109728" cy="20116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356616"/>
            <a:ext cx="9601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B6675"/>
                </a:solidFill>
                <a:latin typeface="Microsoft YaHei"/>
                <a:ea typeface="微软雅黑"/>
                <a:cs typeface="微软雅黑"/>
              </a:rPr>
              <a:t>备份页 · 被问才讲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5509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A2233"/>
                </a:solidFill>
                <a:latin typeface="Microsoft YaHei"/>
                <a:ea typeface="微软雅黑"/>
                <a:cs typeface="微软雅黑"/>
              </a:rPr>
              <a:t>备份 3：数据来源与复现方式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5096" cy="0"/>
          </a:xfrm>
          <a:prstGeom prst="line">
            <a:avLst/>
          </a:prstGeom>
          <a:ln w="9525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66928" y="1444752"/>
            <a:ext cx="5532120" cy="416052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627632"/>
            <a:ext cx="4983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F3A5F"/>
                </a:solidFill>
                <a:latin typeface="Microsoft YaHei"/>
                <a:ea typeface="微软雅黑"/>
                <a:cs typeface="微软雅黑"/>
              </a:rPr>
              <a:t>数据来源与规模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048256"/>
            <a:ext cx="4983480" cy="3383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0">
                <a:solidFill>
                  <a:srgbClr val="1A2233"/>
                </a:solidFill>
                <a:latin typeface="Microsoft YaHei"/>
                <a:ea typeface="微软雅黑"/>
                <a:cs typeface="微软雅黑"/>
              </a:rPr>
              <a:t>· 推荐侧（BDS）：原始评论 779.3 万条（1.24 GB）→ 6 步清洗 → 95.4 万交互对；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0">
                <a:solidFill>
                  <a:srgbClr val="1A2233"/>
                </a:solidFill>
                <a:latin typeface="Microsoft YaHei"/>
                <a:ea typeface="微软雅黑"/>
                <a:cs typeface="微软雅黑"/>
              </a:rPr>
              <a:t>· 矩阵：112,707 用户 × 6,489 游戏，非零元 731,205（密度 0.100%）；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0">
                <a:solidFill>
                  <a:srgbClr val="1A2233"/>
                </a:solidFill>
                <a:latin typeface="Microsoft YaHei"/>
                <a:ea typeface="微软雅黑"/>
                <a:cs typeface="微软雅黑"/>
              </a:rPr>
              <a:t>· 画像侧（STA）：catalog 31,970 款带标签游戏；67,894 份画像、819 万行明细（32 分区）；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0">
                <a:solidFill>
                  <a:srgbClr val="1A2233"/>
                </a:solidFill>
                <a:latin typeface="Microsoft YaHei"/>
                <a:ea typeface="微软雅黑"/>
                <a:cs typeface="微软雅黑"/>
              </a:rPr>
              <a:t>· 标签库：候选池 100% 覆盖、平均 10.8 标签 / 款、共 337 种；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0">
                <a:solidFill>
                  <a:srgbClr val="1A2233"/>
                </a:solidFill>
                <a:latin typeface="Microsoft YaHei"/>
                <a:ea typeface="微软雅黑"/>
                <a:cs typeface="微软雅黑"/>
              </a:rPr>
              <a:t>· 演示快照：40 用户 × 5 模式推荐结果 + 前端数据（web-data/）。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8" y="1444752"/>
            <a:ext cx="5385816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0528" y="1627632"/>
            <a:ext cx="48371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E7C7B"/>
                </a:solidFill>
                <a:latin typeface="Microsoft YaHei"/>
                <a:ea typeface="微软雅黑"/>
                <a:cs typeface="微软雅黑"/>
              </a:rPr>
              <a:t>复现与校验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0528" y="2048256"/>
            <a:ext cx="4837176" cy="3383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0">
                <a:solidFill>
                  <a:srgbClr val="1A2233"/>
                </a:solidFill>
                <a:latin typeface="Microsoft YaHei"/>
                <a:ea typeface="微软雅黑"/>
                <a:cs typeface="微软雅黑"/>
              </a:rPr>
              <a:t>· 快照哈希：meta.json 的 provenance 记录 15 个源文件指纹；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0">
                <a:solidFill>
                  <a:srgbClr val="1A2233"/>
                </a:solidFill>
                <a:latin typeface="Microsoft YaHei"/>
                <a:ea typeface="微软雅黑"/>
                <a:cs typeface="微软雅黑"/>
              </a:rPr>
              <a:t>· 构建脚本 tools/build_reco_data.py 可重跑（含三重校验）；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0">
                <a:solidFill>
                  <a:srgbClr val="1A2233"/>
                </a:solidFill>
                <a:latin typeface="Microsoft YaHei"/>
                <a:ea typeface="微软雅黑"/>
                <a:cs typeface="微软雅黑"/>
              </a:rPr>
              <a:t>· 演示站：启动演示.cmd 一键启动（内置 Node 运行时，完全离线）；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0">
                <a:solidFill>
                  <a:srgbClr val="1A2233"/>
                </a:solidFill>
                <a:latin typeface="Microsoft YaHei"/>
                <a:ea typeface="微软雅黑"/>
                <a:cs typeface="微软雅黑"/>
              </a:rPr>
              <a:t>· 页面：画像页 / 推荐页 / 报告页 均在 127.0.0.1:4319；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0">
                <a:solidFill>
                  <a:srgbClr val="1A2233"/>
                </a:solidFill>
                <a:latin typeface="Microsoft YaHei"/>
                <a:ea typeface="微软雅黑"/>
                <a:cs typeface="微软雅黑"/>
              </a:rPr>
              <a:t>· 断网可用 —— 仅推荐卡上的 Steam 商店链接在点击时联网。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5760720"/>
            <a:ext cx="11055096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5888736"/>
            <a:ext cx="105430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0">
                <a:solidFill>
                  <a:srgbClr val="1A2233"/>
                </a:solidFill>
                <a:latin typeface="Microsoft YaHei"/>
                <a:ea typeface="微软雅黑"/>
                <a:cs typeface="微软雅黑"/>
              </a:rPr>
              <a:t>· 术语：w = 标签成分权重；ρ = 等准确度门槛；膝点 = argmax(RelDCG × ILD)；ILD = 列表内两两平均距离（0 相同、1 完全多样）。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55664"/>
            <a:ext cx="8778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675"/>
                </a:solidFill>
                <a:latin typeface="Microsoft YaHei"/>
                <a:ea typeface="微软雅黑"/>
                <a:cs typeface="微软雅黑"/>
              </a:rPr>
              <a:t>Steam 推荐系统 × 用户标签画像 · 协同汇报（8 分钟 · 大 → 小 → 大）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24744" y="645566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5B6675"/>
                </a:solidFill>
                <a:latin typeface="Microsoft YaHei"/>
                <a:ea typeface="微软雅黑"/>
                <a:cs typeface="微软雅黑"/>
              </a:rPr>
              <a:t>B3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Steam 推荐系统 × 用户标签画像 · 协同汇报（8 分钟版）</dc:title>
  <dc:subject/>
  <dc:creator/>
  <cp:keywords/>
  <dc:description/>
  <cp:lastModifiedBy/>
  <cp:revision>1</cp:revision>
  <dcterms:created xsi:type="dcterms:W3CDTF">2013-01-27T09:14:16Z</dcterms:created>
  <dcterms:modified xsi:type="dcterms:W3CDTF">2013-01-27T09:15:58Z</dcterms:modified>
  <cp:category/>
</cp:coreProperties>
</file>